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 open with the one-liner.</a:t>
            </a:r>
          </a:p>
          <a:p>
            <a:r>
              <a:t>- "This is the Project Suitability Engine: it matches each applicant to each project and produces a Suitability Score we can fully explain - fairly, across every school background."</a:t>
            </a:r>
          </a:p>
          <a:p>
            <a:r>
              <a:t>- It assists officers; it doesn't auto-decide.</a:t>
            </a:r>
          </a:p>
          <a:p>
            <a:r>
              <a:t>- Then move into 'why change' (the old manual way vs the new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CHANGE — old way vs new way. Set up the whole talk.</a:t>
            </a:r>
          </a:p>
          <a:p>
            <a:r>
              <a:t>- Today (manual): IOs read thousands of applicants in Excel, tag each to a project by hand, re-filter, then pick interviewees. Slow, inconsistent between officers, hard to audit - and grades aren't even used in the matching.</a:t>
            </a:r>
          </a:p>
          <a:p>
            <a:r>
              <a:t>- New (engine): one eligibility gate screens the first round, then every applicant is scored on three things - Discipline of study, Skills, Standing - and each project gets a ranked, explained shortlist.</a:t>
            </a:r>
          </a:p>
          <a:p>
            <a:r>
              <a:t>- Reassure: same officers, same final decision. The engine hands them a ranked, explained shortlist instead of a blank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SCORING MODEL — the heart. Be explicit.</a:t>
            </a:r>
          </a:p>
          <a:p>
            <a:r>
              <a:t>- Three factors, each matching applicant to project:</a:t>
            </a:r>
          </a:p>
          <a:p>
            <a:r>
              <a:t>   Discipline of study -&gt; matches the project's discipline = 50%</a:t>
            </a:r>
          </a:p>
          <a:p>
            <a:r>
              <a:t>   Skills -&gt; matches the project's required skills = 30%</a:t>
            </a:r>
          </a:p>
          <a:p>
            <a:r>
              <a:t>   Grades -&gt; become a "Standing" band, judged within your own school = 20%</a:t>
            </a:r>
          </a:p>
          <a:p>
            <a:r>
              <a:t>- Formula upfront: Suitability Score = 50% Discipline of study + 30% Skills + 20% Standing. Weights configurable per programme.</a:t>
            </a:r>
          </a:p>
          <a:p>
            <a:r>
              <a:t>- INTEREST: NOT a scored weight - it powers project recommendations + a light signal (so "keen" doesn't beat "fit"). Can be given a small weight if DSTA wants.</a:t>
            </a:r>
          </a:p>
          <a:p>
            <a:r>
              <a:t>- PREFERENCE: the applicant's ranking - the TIE-BREAK between equal scores, never inside the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ALL BACKGROUNDS — one engine + the discipline-&gt;subject bridge.</a:t>
            </a:r>
          </a:p>
          <a:p>
            <a:r>
              <a:t>- Three factors stay the same; only HOW we read Discipline-fit and Standing changes per background.</a:t>
            </a:r>
          </a:p>
          <a:p>
            <a:r>
              <a:t>   Discipline-fit: subjects or discipline, via a shared dictionary.</a:t>
            </a:r>
          </a:p>
          <a:p>
            <a:r>
              <a:t>   Standing: grades/GPA graded WITHIN that system (an A, IB 7, poly GPA never compared raw).</a:t>
            </a:r>
          </a:p>
          <a:p>
            <a:r>
              <a:t>- DISCIPLINE-TO-SUBJECT bridge: projects only state a discipline. An admin-maintained dictionary maps each discipline to its subjects (Computer Science -&gt; Maths, Computing, Physics) so JC/IB subjects can be matched. Unmapped discipline -&gt; factor dropped, weights renormalise, confidence drops, admin flagged.</a:t>
            </a:r>
          </a:p>
          <a:p>
            <a:r>
              <a:t>- Maintenance is light: small, slow-moving list; seed once; gaps fail safe.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 real prototype numbers.</a:t>
            </a:r>
          </a:p>
          <a:p>
            <a:r>
              <a:t>- Tan Wei Ming, CS, GPA 3.8 -&gt; "Cybersecurity Threat Analysis".</a:t>
            </a:r>
          </a:p>
          <a:p>
            <a:r>
              <a:t>   Discipline of study x50%: CS is exactly a required discipline -&gt; 100</a:t>
            </a:r>
          </a:p>
          <a:p>
            <a:r>
              <a:t>   Skills x30%: Python + security basics, lighter on MITRE ATT&amp;CK/forensics -&gt; 60</a:t>
            </a:r>
          </a:p>
          <a:p>
            <a:r>
              <a:t>   Standing x20%: GPA 3.8 -&gt; "Strong" band -&gt; 80</a:t>
            </a:r>
          </a:p>
          <a:p>
            <a:r>
              <a:t>- Bands: Top 100, Strong 80, Solid 60, Borderline 40 (within own system).</a:t>
            </a:r>
          </a:p>
          <a:p>
            <a:r>
              <a:t>- Arithmetic on screen: 0.50x100 + 0.30x60 + 0.20x80 = 84. An officer sees exactly why it's 84, not 95.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 CASE — show the breakdowns and the add-up.</a:t>
            </a:r>
          </a:p>
          <a:p>
            <a:r>
              <a:t>- One pool mixes A-Level, IB, NUS High, Polytechnic (and O-Level Y4 / others) for the SAME project: Defence Simulation Modelling (needs CS/Maths, Python, MATLAB).</a:t>
            </a:r>
          </a:p>
          <a:p>
            <a:r>
              <a:t>- HOW EACH ADDS UP (weighted, not simple sum): Suitability = 0.5*Discipline + 0.3*Skills + 0.2*Standing.</a:t>
            </a:r>
          </a:p>
          <a:p>
            <a:r>
              <a:t>   A-Level: 0.5*94 + 0.3*60 + 0.2*80 = 81</a:t>
            </a:r>
          </a:p>
          <a:p>
            <a:r>
              <a:t>   IB:      0.5*88 + 0.3*60 + 0.2*80 = 78</a:t>
            </a:r>
          </a:p>
          <a:p>
            <a:r>
              <a:t>   Poly:    0.5*82 + 0.3*70 + 0.2*80 = 78  (discipline lower - IT is RELATED not exact - but stronger hands-on skills offset it)</a:t>
            </a:r>
          </a:p>
          <a:p>
            <a:r>
              <a:t>   NUS High:0.5*92 + 0.3*60 + 0.2*80 = 80</a:t>
            </a:r>
          </a:p>
          <a:p>
            <a:r>
              <a:t>- HOW EACH SUB-SCORE IS FOUND: Discipline = how closely the field/subjects match the project's discipline (exact / related / weak). Skills = share of the project's required skills the applicant covers. Standing = grade/GPA mapped to a band within their own system (Top/Strong/Solid/Borderline).</a:t>
            </a:r>
          </a:p>
          <a:p>
            <a:r>
              <a:t>- Tight 78-81 band -&gt; judged on fit, not certificate. Grades normalised within each system; thin data -&gt; lower confidence; ties -&gt; project preference.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BUILD — challenges, assumptions, considerations. Be honest here; it builds trust.</a:t>
            </a:r>
          </a:p>
          <a:p>
            <a:r>
              <a:t>- ASSUMPTIONS: projects carry a discipline (and ideally skills); applicant data is STRUCTURED not free text; each programme mostly draws 1-2 backgrounds; 50/30/20 are agreed defaults.</a:t>
            </a:r>
          </a:p>
          <a:p>
            <a:r>
              <a:t>- CHALLENGES/RISKS: maintaining the subject&lt;-&gt;discipline dictionary + grade bands; free-text won't match (need dropdowns); cross-system grade comparability (normalise within track); thin data for some groups; automation bias.</a:t>
            </a:r>
          </a:p>
          <a:p>
            <a:r>
              <a:t>- CONSIDERATIONS / mitigations: humans decide interviews (engine ranks+explains only); show confidence not just score; never auto-reject beyond eligibility; make weights+dictionary admin-configurable and versioned; PILOT on Post-JC/Post-Poly first; open decisions - does Interest get a weight, and the final Standing weight.</a:t>
            </a:r>
          </a:p>
          <a:p>
            <a:r>
              <a:t>- Close: the design is deliberately a glass box so every one of these is visible and adjustable.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FAQ (scoring) — reference slide; use when asked for detail.</a:t>
            </a:r>
          </a:p>
          <a:p>
            <a:r>
              <a:t>- Discipline sub-score: dictionary expands the project's discipline into relevant subjects; coverage weighted by level (H2/HL full, H1/SL ~0.6); formal discipline = exact 100 / related ~80.</a:t>
            </a:r>
          </a:p>
          <a:p>
            <a:r>
              <a:t>- Skills sub-score (real formula in lib/scoring.ts): 15 + (matched/required)*85.</a:t>
            </a:r>
          </a:p>
          <a:p>
            <a:r>
              <a:t>- Weights configurable + versioned; Standing can be 0.</a:t>
            </a:r>
          </a:p>
          <a:p>
            <a:r>
              <a:t>- Ties: applicant's project preference, then officer.</a:t>
            </a:r>
          </a:p>
          <a:p>
            <a:r>
              <a:t>- Be honest: example integers are illustrative; production computes them from declared data. (If pressed, pre-university SKILLS shown at 60 are generous; a strict reading is ~50 - offer to recompute.)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FAQ (fairness, data, operating) — reference slide.</a:t>
            </a:r>
          </a:p>
          <a:p>
            <a:r>
              <a:t>- Fairness: within-pool comparison; grades normalised within each system; missing factor -&gt; renormalise to 100.</a:t>
            </a:r>
          </a:p>
          <a:p>
            <a:r>
              <a:t>- Missing data -&gt; confidence not score; unmapped discipline -&gt; drop + renormalise + flag admin.</a:t>
            </a:r>
          </a:p>
          <a:p>
            <a:r>
              <a:t>- No auto-reject beyond eligibility; humans shortlist and select.</a:t>
            </a:r>
          </a:p>
          <a:p>
            <a:r>
              <a:t>- Anti-gaming: preference is tiebreaker only; skills checked vs evidence; factors capped.</a:t>
            </a:r>
          </a:p>
          <a:p>
            <a:r>
              <a:t>- Inputs: structured applicant data + projects tagged with discipline/skills. Upkeep light (dictionary seeded once, few edits/year).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FAQ (normalisation &amp; config) — the where/by-whom reference.</a:t>
            </a:r>
          </a:p>
          <a:p>
            <a:r>
              <a:t>- GRADE NORMALISATION: per-system grade-&gt;band lookup tables (A-Level A=Top, IB 7=Top, Poly GPA&gt;=3.8=Top -&gt; Top 100 / Strong 80 / Solid 60 / Borderline 40). Admins set thresholds; engine applies.</a:t>
            </a:r>
          </a:p>
          <a:p>
            <a:r>
              <a:t>- WEIGHT RENORMALISATION: base weights 50/30/20; if a factor is absent, drop it and rescale remaining to 100 (drop Standing -&gt; Discipline 62.5%, Skills 37.5%). Automatic, deterministic, no human.</a:t>
            </a:r>
          </a:p>
          <a:p>
            <a:r>
              <a:t>- WHERE: three pieces of admin config (weights per programme, band tables per system, subject&lt;-&gt;discipline dictionary) - all data, not code, separate from the engine.</a:t>
            </a:r>
          </a:p>
          <a:p>
            <a:r>
              <a:t>- BY WHOM: DSTA admins (no developer); everything versioned so any past score is reproducible -&gt; fully auditable.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E5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371600"/>
            <a:ext cx="658368" cy="109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10515600" cy="45720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BDD0F2"/>
                </a:solidFill>
                <a:latin typeface="Segoe UI"/>
              </a:rPr>
              <a:t>DSTA · TALENT OUTREACH &amp; ACQUISITION PORTAL</a:t>
            </a:r>
          </a:p>
        </p:txBody>
      </p:sp>
      <p:sp>
        <p:nvSpPr>
          <p:cNvPr id="6" name="TextBox 5"/>
          <p:cNvSpPr txBox="1"/>
          <p:nvPr/>
        </p:nvSpPr>
        <p:spPr>
          <a:xfrm>
            <a:off x="795528" y="2423160"/>
            <a:ext cx="10607040" cy="1280160"/>
          </a:xfrm>
          <a:prstGeom prst="rect">
            <a:avLst/>
          </a:prstGeom>
          <a:noFill/>
        </p:spPr>
        <p:txBody>
          <a:bodyPr wrap="square" anchor="t" lIns="0" rIns="0" tIns="0" bIns="0">
            <a:spAutoFit/>
          </a:bodyPr>
          <a:lstStyle/>
          <a:p>
            <a:pPr algn="l">
              <a:lnSpc>
                <a:spcPct val="100000"/>
              </a:lnSpc>
              <a:spcBef>
                <a:spcPts val="0"/>
              </a:spcBef>
              <a:spcAft>
                <a:spcPts val="400"/>
              </a:spcAft>
            </a:pPr>
            <a:r>
              <a:rPr sz="4400" b="1" i="0">
                <a:solidFill>
                  <a:srgbClr val="FFFFFF"/>
                </a:solidFill>
                <a:latin typeface="Segoe UI"/>
              </a:rPr>
              <a:t>Project Suitability Engine</a:t>
            </a:r>
          </a:p>
        </p:txBody>
      </p:sp>
      <p:sp>
        <p:nvSpPr>
          <p:cNvPr id="7" name="TextBox 6"/>
          <p:cNvSpPr txBox="1"/>
          <p:nvPr/>
        </p:nvSpPr>
        <p:spPr>
          <a:xfrm>
            <a:off x="822960" y="3749039"/>
            <a:ext cx="9966960" cy="914400"/>
          </a:xfrm>
          <a:prstGeom prst="rect">
            <a:avLst/>
          </a:prstGeom>
          <a:noFill/>
        </p:spPr>
        <p:txBody>
          <a:bodyPr wrap="square" anchor="t" lIns="0" rIns="0" tIns="0" bIns="0">
            <a:spAutoFit/>
          </a:bodyPr>
          <a:lstStyle/>
          <a:p>
            <a:pPr algn="l">
              <a:lnSpc>
                <a:spcPct val="120000"/>
              </a:lnSpc>
              <a:spcBef>
                <a:spcPts val="0"/>
              </a:spcBef>
              <a:spcAft>
                <a:spcPts val="400"/>
              </a:spcAft>
            </a:pPr>
            <a:r>
              <a:rPr sz="1600" b="0" i="0">
                <a:solidFill>
                  <a:srgbClr val="DDE7F7"/>
                </a:solidFill>
                <a:latin typeface="Segoe UI"/>
              </a:rPr>
              <a:t>How we match applicants to projects — fairly, explainably,</a:t>
            </a:r>
          </a:p>
          <a:p>
            <a:pPr algn="l">
              <a:lnSpc>
                <a:spcPct val="120000"/>
              </a:lnSpc>
              <a:spcBef>
                <a:spcPts val="0"/>
              </a:spcBef>
              <a:spcAft>
                <a:spcPts val="400"/>
              </a:spcAft>
            </a:pPr>
            <a:r>
              <a:rPr sz="1600" b="1" i="0">
                <a:solidFill>
                  <a:srgbClr val="FFFFFF"/>
                </a:solidFill>
                <a:latin typeface="Segoe UI"/>
              </a:rPr>
              <a:t>and across every school background.</a:t>
            </a:r>
          </a:p>
        </p:txBody>
      </p:sp>
      <p:sp>
        <p:nvSpPr>
          <p:cNvPr id="8" name="Rounded Rectangle 7"/>
          <p:cNvSpPr/>
          <p:nvPr/>
        </p:nvSpPr>
        <p:spPr>
          <a:xfrm>
            <a:off x="822960" y="5029200"/>
            <a:ext cx="1920240" cy="457200"/>
          </a:xfrm>
          <a:prstGeom prst="roundRect">
            <a:avLst>
              <a:gd name="adj" fmla="val 50000"/>
            </a:avLst>
          </a:prstGeom>
          <a:solidFill>
            <a:srgbClr val="1E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029200"/>
            <a:ext cx="1920240"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100" b="1" i="0">
                <a:solidFill>
                  <a:srgbClr val="FFFFFF"/>
                </a:solidFill>
                <a:latin typeface="Segoe UI"/>
              </a:rPr>
              <a:t>Internal briefing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WHY CHANGE</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Shortlisting today vs the new scoring engine</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01 / 09</a:t>
            </a:r>
          </a:p>
        </p:txBody>
      </p:sp>
      <p:sp>
        <p:nvSpPr>
          <p:cNvPr id="10" name="Rounded Rectangle 9"/>
          <p:cNvSpPr/>
          <p:nvPr/>
        </p:nvSpPr>
        <p:spPr>
          <a:xfrm>
            <a:off x="713232" y="1463040"/>
            <a:ext cx="5212080" cy="4069080"/>
          </a:xfrm>
          <a:prstGeom prst="roundRect">
            <a:avLst>
              <a:gd name="adj" fmla="val 4000"/>
            </a:avLst>
          </a:prstGeom>
          <a:solidFill>
            <a:srgbClr val="F4F7FC"/>
          </a:solidFill>
          <a:ln w="1270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0120" y="1691640"/>
            <a:ext cx="1783080" cy="384048"/>
          </a:xfrm>
          <a:prstGeom prst="roundRect">
            <a:avLst>
              <a:gd name="adj" fmla="val 50000"/>
            </a:avLst>
          </a:prstGeom>
          <a:solidFill>
            <a:srgbClr val="FDF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691640"/>
            <a:ext cx="178308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B45309"/>
                </a:solidFill>
                <a:latin typeface="Segoe UI"/>
              </a:rPr>
              <a:t>TODAY — MANUAL</a:t>
            </a:r>
          </a:p>
        </p:txBody>
      </p:sp>
      <p:sp>
        <p:nvSpPr>
          <p:cNvPr id="13" name="Oval 12"/>
          <p:cNvSpPr/>
          <p:nvPr/>
        </p:nvSpPr>
        <p:spPr>
          <a:xfrm>
            <a:off x="1005840" y="2395727"/>
            <a:ext cx="100584" cy="1005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61872" y="2304288"/>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IOs read thousands of applicants in Excel</a:t>
            </a:r>
          </a:p>
        </p:txBody>
      </p:sp>
      <p:sp>
        <p:nvSpPr>
          <p:cNvPr id="15" name="Oval 14"/>
          <p:cNvSpPr/>
          <p:nvPr/>
        </p:nvSpPr>
        <p:spPr>
          <a:xfrm>
            <a:off x="1005840" y="2962656"/>
            <a:ext cx="100584" cy="1005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 y="2871216"/>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Tag each applicant to a project by hand</a:t>
            </a:r>
          </a:p>
        </p:txBody>
      </p:sp>
      <p:sp>
        <p:nvSpPr>
          <p:cNvPr id="17" name="Oval 16"/>
          <p:cNvSpPr/>
          <p:nvPr/>
        </p:nvSpPr>
        <p:spPr>
          <a:xfrm>
            <a:off x="1005840" y="3529584"/>
            <a:ext cx="100584" cy="1005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61872" y="3438144"/>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Re-filter by project, then pick interviewees</a:t>
            </a:r>
          </a:p>
        </p:txBody>
      </p:sp>
      <p:sp>
        <p:nvSpPr>
          <p:cNvPr id="19" name="Oval 18"/>
          <p:cNvSpPr/>
          <p:nvPr/>
        </p:nvSpPr>
        <p:spPr>
          <a:xfrm>
            <a:off x="1005840" y="4096512"/>
            <a:ext cx="100584" cy="1005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61872" y="4005072"/>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Grades aren't used in the matching at all</a:t>
            </a:r>
          </a:p>
        </p:txBody>
      </p:sp>
      <p:sp>
        <p:nvSpPr>
          <p:cNvPr id="21" name="TextBox 20"/>
          <p:cNvSpPr txBox="1"/>
          <p:nvPr/>
        </p:nvSpPr>
        <p:spPr>
          <a:xfrm>
            <a:off x="960120" y="4983480"/>
            <a:ext cx="484632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B45309"/>
                </a:solidFill>
                <a:latin typeface="Segoe UI"/>
              </a:rPr>
              <a:t>Slow · inconsistent between officers · hard to audit</a:t>
            </a:r>
          </a:p>
        </p:txBody>
      </p:sp>
      <p:sp>
        <p:nvSpPr>
          <p:cNvPr id="22" name="Rounded Rectangle 21"/>
          <p:cNvSpPr/>
          <p:nvPr/>
        </p:nvSpPr>
        <p:spPr>
          <a:xfrm>
            <a:off x="6263640" y="1463040"/>
            <a:ext cx="5212080" cy="4069080"/>
          </a:xfrm>
          <a:prstGeom prst="roundRect">
            <a:avLst>
              <a:gd name="adj" fmla="val 4000"/>
            </a:avLst>
          </a:prstGeom>
          <a:solidFill>
            <a:srgbClr val="E9EFFB"/>
          </a:solidFill>
          <a:ln w="15240">
            <a:solidFill>
              <a:srgbClr val="003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10528" y="1691640"/>
            <a:ext cx="2377440" cy="384048"/>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1691640"/>
            <a:ext cx="237744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NEW — SCORING ENGINE</a:t>
            </a:r>
          </a:p>
        </p:txBody>
      </p:sp>
      <p:sp>
        <p:nvSpPr>
          <p:cNvPr id="25" name="Oval 24"/>
          <p:cNvSpPr/>
          <p:nvPr/>
        </p:nvSpPr>
        <p:spPr>
          <a:xfrm>
            <a:off x="6556248" y="2395727"/>
            <a:ext cx="100584" cy="100584"/>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2304288"/>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One eligibility gate screens the first round</a:t>
            </a:r>
          </a:p>
        </p:txBody>
      </p:sp>
      <p:sp>
        <p:nvSpPr>
          <p:cNvPr id="27" name="Oval 26"/>
          <p:cNvSpPr/>
          <p:nvPr/>
        </p:nvSpPr>
        <p:spPr>
          <a:xfrm>
            <a:off x="6556248" y="2962656"/>
            <a:ext cx="100584" cy="100584"/>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12280" y="2871216"/>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Every applicant scored on Discipline of study + Skills + Standing</a:t>
            </a:r>
          </a:p>
        </p:txBody>
      </p:sp>
      <p:sp>
        <p:nvSpPr>
          <p:cNvPr id="29" name="Oval 28"/>
          <p:cNvSpPr/>
          <p:nvPr/>
        </p:nvSpPr>
        <p:spPr>
          <a:xfrm>
            <a:off x="6556248" y="3529584"/>
            <a:ext cx="100584" cy="100584"/>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3438144"/>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Each project gets a ranked, explained shortlist</a:t>
            </a:r>
          </a:p>
        </p:txBody>
      </p:sp>
      <p:sp>
        <p:nvSpPr>
          <p:cNvPr id="31" name="Oval 30"/>
          <p:cNvSpPr/>
          <p:nvPr/>
        </p:nvSpPr>
        <p:spPr>
          <a:xfrm>
            <a:off x="6556248" y="4096512"/>
            <a:ext cx="100584" cy="100584"/>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2280" y="4005072"/>
            <a:ext cx="4480560" cy="457200"/>
          </a:xfrm>
          <a:prstGeom prst="rect">
            <a:avLst/>
          </a:prstGeom>
          <a:noFill/>
        </p:spPr>
        <p:txBody>
          <a:bodyPr wrap="square" anchor="t" lIns="0" rIns="0" tIns="0" bIns="0">
            <a:spAutoFit/>
          </a:bodyPr>
          <a:lstStyle/>
          <a:p>
            <a:pPr algn="l">
              <a:lnSpc>
                <a:spcPct val="105000"/>
              </a:lnSpc>
              <a:spcBef>
                <a:spcPts val="0"/>
              </a:spcBef>
              <a:spcAft>
                <a:spcPts val="400"/>
              </a:spcAft>
            </a:pPr>
            <a:r>
              <a:rPr sz="1250" b="0" i="0">
                <a:solidFill>
                  <a:srgbClr val="0F172A"/>
                </a:solidFill>
                <a:latin typeface="Segoe UI"/>
              </a:rPr>
              <a:t>Fair across every school background</a:t>
            </a:r>
          </a:p>
        </p:txBody>
      </p:sp>
      <p:sp>
        <p:nvSpPr>
          <p:cNvPr id="33" name="TextBox 32"/>
          <p:cNvSpPr txBox="1"/>
          <p:nvPr/>
        </p:nvSpPr>
        <p:spPr>
          <a:xfrm>
            <a:off x="6510528" y="4983480"/>
            <a:ext cx="4846320" cy="45720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00328A"/>
                </a:solidFill>
                <a:latin typeface="Segoe UI"/>
              </a:rPr>
              <a:t>Consistent · auditable · explainable</a:t>
            </a:r>
          </a:p>
        </p:txBody>
      </p:sp>
      <p:sp>
        <p:nvSpPr>
          <p:cNvPr id="34" name="Rounded Rectangle 33"/>
          <p:cNvSpPr/>
          <p:nvPr/>
        </p:nvSpPr>
        <p:spPr>
          <a:xfrm>
            <a:off x="713232" y="5669280"/>
            <a:ext cx="10771632" cy="566928"/>
          </a:xfrm>
          <a:prstGeom prst="roundRect">
            <a:avLst>
              <a:gd name="adj" fmla="val 1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669280"/>
            <a:ext cx="10771632" cy="566928"/>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Segoe UI"/>
              </a:rPr>
              <a:t>Same officers, same final decision — they just review a ranked, explained shortlist instead of a spreadsheet.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THE SCORING MODEL</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What we assess — and how it becomes a score</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02 / 09</a:t>
            </a:r>
          </a:p>
        </p:txBody>
      </p:sp>
      <p:sp>
        <p:nvSpPr>
          <p:cNvPr id="10" name="TextBox 9"/>
          <p:cNvSpPr txBox="1"/>
          <p:nvPr/>
        </p:nvSpPr>
        <p:spPr>
          <a:xfrm>
            <a:off x="713232" y="1371600"/>
            <a:ext cx="10789920" cy="36576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556377"/>
                </a:solidFill>
                <a:latin typeface="Segoe UI"/>
              </a:rPr>
              <a:t>Three things make the score. Each looks at the applicant and matches it to what the project needs:</a:t>
            </a:r>
          </a:p>
        </p:txBody>
      </p:sp>
      <p:sp>
        <p:nvSpPr>
          <p:cNvPr id="11" name="Rounded Rectangle 10"/>
          <p:cNvSpPr/>
          <p:nvPr/>
        </p:nvSpPr>
        <p:spPr>
          <a:xfrm>
            <a:off x="713232" y="1828800"/>
            <a:ext cx="10771632" cy="658368"/>
          </a:xfrm>
          <a:prstGeom prst="roundRect">
            <a:avLst>
              <a:gd name="adj" fmla="val 10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28800"/>
            <a:ext cx="3383280" cy="65836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F172A"/>
                </a:solidFill>
                <a:latin typeface="Segoe UI"/>
              </a:rPr>
              <a:t>Discipline of study</a:t>
            </a:r>
          </a:p>
        </p:txBody>
      </p:sp>
      <p:sp>
        <p:nvSpPr>
          <p:cNvPr id="13" name="TextBox 12"/>
          <p:cNvSpPr txBox="1"/>
          <p:nvPr/>
        </p:nvSpPr>
        <p:spPr>
          <a:xfrm>
            <a:off x="4297680" y="1828800"/>
            <a:ext cx="54864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200" b="0" i="0">
                <a:solidFill>
                  <a:srgbClr val="556377"/>
                </a:solidFill>
                <a:latin typeface="Segoe UI"/>
              </a:rPr>
              <a:t>→  matches the project's discipline</a:t>
            </a:r>
          </a:p>
        </p:txBody>
      </p:sp>
      <p:sp>
        <p:nvSpPr>
          <p:cNvPr id="14" name="Rounded Rectangle 13"/>
          <p:cNvSpPr/>
          <p:nvPr/>
        </p:nvSpPr>
        <p:spPr>
          <a:xfrm>
            <a:off x="10012680" y="1975104"/>
            <a:ext cx="1280160" cy="365760"/>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12680" y="1975104"/>
            <a:ext cx="128016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Segoe UI"/>
              </a:rPr>
              <a:t>50%</a:t>
            </a:r>
          </a:p>
        </p:txBody>
      </p:sp>
      <p:sp>
        <p:nvSpPr>
          <p:cNvPr id="16" name="Rounded Rectangle 15"/>
          <p:cNvSpPr/>
          <p:nvPr/>
        </p:nvSpPr>
        <p:spPr>
          <a:xfrm>
            <a:off x="713232" y="2578608"/>
            <a:ext cx="10771632" cy="658368"/>
          </a:xfrm>
          <a:prstGeom prst="roundRect">
            <a:avLst>
              <a:gd name="adj" fmla="val 10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578608"/>
            <a:ext cx="3383280" cy="65836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F172A"/>
                </a:solidFill>
                <a:latin typeface="Segoe UI"/>
              </a:rPr>
              <a:t>Skills</a:t>
            </a:r>
          </a:p>
        </p:txBody>
      </p:sp>
      <p:sp>
        <p:nvSpPr>
          <p:cNvPr id="18" name="TextBox 17"/>
          <p:cNvSpPr txBox="1"/>
          <p:nvPr/>
        </p:nvSpPr>
        <p:spPr>
          <a:xfrm>
            <a:off x="4297680" y="2578608"/>
            <a:ext cx="54864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200" b="0" i="0">
                <a:solidFill>
                  <a:srgbClr val="556377"/>
                </a:solidFill>
                <a:latin typeface="Segoe UI"/>
              </a:rPr>
              <a:t>→  matches the project's required skills</a:t>
            </a:r>
          </a:p>
        </p:txBody>
      </p:sp>
      <p:sp>
        <p:nvSpPr>
          <p:cNvPr id="19" name="Rounded Rectangle 18"/>
          <p:cNvSpPr/>
          <p:nvPr/>
        </p:nvSpPr>
        <p:spPr>
          <a:xfrm>
            <a:off x="10012680" y="2724912"/>
            <a:ext cx="1280160" cy="365760"/>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12680" y="2724912"/>
            <a:ext cx="128016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Segoe UI"/>
              </a:rPr>
              <a:t>30%</a:t>
            </a:r>
          </a:p>
        </p:txBody>
      </p:sp>
      <p:sp>
        <p:nvSpPr>
          <p:cNvPr id="21" name="Rounded Rectangle 20"/>
          <p:cNvSpPr/>
          <p:nvPr/>
        </p:nvSpPr>
        <p:spPr>
          <a:xfrm>
            <a:off x="713232" y="3328415"/>
            <a:ext cx="10771632" cy="658368"/>
          </a:xfrm>
          <a:prstGeom prst="roundRect">
            <a:avLst>
              <a:gd name="adj" fmla="val 10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328415"/>
            <a:ext cx="3383280" cy="65836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0F172A"/>
                </a:solidFill>
                <a:latin typeface="Segoe UI"/>
              </a:rPr>
              <a:t>Grades</a:t>
            </a:r>
          </a:p>
        </p:txBody>
      </p:sp>
      <p:sp>
        <p:nvSpPr>
          <p:cNvPr id="23" name="TextBox 22"/>
          <p:cNvSpPr txBox="1"/>
          <p:nvPr/>
        </p:nvSpPr>
        <p:spPr>
          <a:xfrm>
            <a:off x="4297680" y="3328415"/>
            <a:ext cx="54864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200" b="0" i="0">
                <a:solidFill>
                  <a:srgbClr val="556377"/>
                </a:solidFill>
                <a:latin typeface="Segoe UI"/>
              </a:rPr>
              <a:t>→  become a “Standing” band — judged within your own school</a:t>
            </a:r>
          </a:p>
        </p:txBody>
      </p:sp>
      <p:sp>
        <p:nvSpPr>
          <p:cNvPr id="24" name="Rounded Rectangle 23"/>
          <p:cNvSpPr/>
          <p:nvPr/>
        </p:nvSpPr>
        <p:spPr>
          <a:xfrm>
            <a:off x="10012680" y="3474720"/>
            <a:ext cx="1280160" cy="36576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12680" y="3474720"/>
            <a:ext cx="128016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Segoe UI"/>
              </a:rPr>
              <a:t>20%</a:t>
            </a:r>
          </a:p>
        </p:txBody>
      </p:sp>
      <p:sp>
        <p:nvSpPr>
          <p:cNvPr id="26" name="Rounded Rectangle 25"/>
          <p:cNvSpPr/>
          <p:nvPr/>
        </p:nvSpPr>
        <p:spPr>
          <a:xfrm>
            <a:off x="713232" y="4114800"/>
            <a:ext cx="10771632" cy="502920"/>
          </a:xfrm>
          <a:prstGeom prst="roundRect">
            <a:avLst>
              <a:gd name="adj" fmla="val 8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114800"/>
            <a:ext cx="10771632"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350" b="1" i="0">
                <a:solidFill>
                  <a:srgbClr val="FFFFFF"/>
                </a:solidFill>
                <a:latin typeface="Segoe UI"/>
              </a:rPr>
              <a:t>Suitability Score  =  50% Discipline of study  +  30% Skills  +  20% Standing</a:t>
            </a:r>
            <a:r>
              <a:rPr sz="1050" b="0" i="0">
                <a:solidFill>
                  <a:srgbClr val="BDD0F2"/>
                </a:solidFill>
                <a:latin typeface="Segoe UI"/>
              </a:rPr>
              <a:t>   · configurable</a:t>
            </a:r>
          </a:p>
        </p:txBody>
      </p:sp>
      <p:sp>
        <p:nvSpPr>
          <p:cNvPr id="28" name="TextBox 27"/>
          <p:cNvSpPr txBox="1"/>
          <p:nvPr/>
        </p:nvSpPr>
        <p:spPr>
          <a:xfrm>
            <a:off x="713232" y="4800600"/>
            <a:ext cx="10789920" cy="320040"/>
          </a:xfrm>
          <a:prstGeom prst="rect">
            <a:avLst/>
          </a:prstGeom>
          <a:noFill/>
        </p:spPr>
        <p:txBody>
          <a:bodyPr wrap="square" anchor="t" lIns="0" rIns="0" tIns="0" bIns="0">
            <a:spAutoFit/>
          </a:bodyPr>
          <a:lstStyle/>
          <a:p>
            <a:pPr algn="l">
              <a:lnSpc>
                <a:spcPct val="100000"/>
              </a:lnSpc>
              <a:spcBef>
                <a:spcPts val="0"/>
              </a:spcBef>
              <a:spcAft>
                <a:spcPts val="400"/>
              </a:spcAft>
            </a:pPr>
            <a:r>
              <a:rPr sz="1150" b="1" i="0">
                <a:solidFill>
                  <a:srgbClr val="0F172A"/>
                </a:solidFill>
                <a:latin typeface="Segoe UI"/>
              </a:rPr>
              <a:t>Also used — but NOT part of the score:</a:t>
            </a:r>
          </a:p>
        </p:txBody>
      </p:sp>
      <p:sp>
        <p:nvSpPr>
          <p:cNvPr id="29" name="Rounded Rectangle 28"/>
          <p:cNvSpPr/>
          <p:nvPr/>
        </p:nvSpPr>
        <p:spPr>
          <a:xfrm>
            <a:off x="713232" y="5138928"/>
            <a:ext cx="5285232" cy="1051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285232"/>
            <a:ext cx="4846320" cy="822960"/>
          </a:xfrm>
          <a:prstGeom prst="rect">
            <a:avLst/>
          </a:prstGeom>
          <a:noFill/>
        </p:spPr>
        <p:txBody>
          <a:bodyPr wrap="square" anchor="t" lIns="0" rIns="0" tIns="0" bIns="0">
            <a:spAutoFit/>
          </a:bodyPr>
          <a:lstStyle/>
          <a:p>
            <a:pPr algn="l">
              <a:lnSpc>
                <a:spcPct val="112000"/>
              </a:lnSpc>
              <a:spcBef>
                <a:spcPts val="0"/>
              </a:spcBef>
              <a:spcAft>
                <a:spcPts val="400"/>
              </a:spcAft>
            </a:pPr>
            <a:r>
              <a:rPr sz="1250" b="1" i="0">
                <a:solidFill>
                  <a:srgbClr val="0E7490"/>
                </a:solidFill>
                <a:latin typeface="Segoe UI"/>
              </a:rPr>
              <a:t>Interest</a:t>
            </a:r>
          </a:p>
          <a:p>
            <a:pPr algn="l">
              <a:lnSpc>
                <a:spcPct val="112000"/>
              </a:lnSpc>
              <a:spcBef>
                <a:spcPts val="0"/>
              </a:spcBef>
              <a:spcAft>
                <a:spcPts val="400"/>
              </a:spcAft>
            </a:pPr>
            <a:r>
              <a:rPr sz="1100" b="0" i="0">
                <a:solidFill>
                  <a:srgbClr val="556377"/>
                </a:solidFill>
                <a:latin typeface="Segoe UI"/>
              </a:rPr>
              <a:t>Helps recommend projects to the applicant and acts as a light signal — it is not a scored weight.</a:t>
            </a:r>
          </a:p>
        </p:txBody>
      </p:sp>
      <p:sp>
        <p:nvSpPr>
          <p:cNvPr id="31" name="Rounded Rectangle 30"/>
          <p:cNvSpPr/>
          <p:nvPr/>
        </p:nvSpPr>
        <p:spPr>
          <a:xfrm>
            <a:off x="6199632" y="5138928"/>
            <a:ext cx="5285232" cy="105156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5285232"/>
            <a:ext cx="4846320" cy="822960"/>
          </a:xfrm>
          <a:prstGeom prst="rect">
            <a:avLst/>
          </a:prstGeom>
          <a:noFill/>
        </p:spPr>
        <p:txBody>
          <a:bodyPr wrap="square" anchor="t" lIns="0" rIns="0" tIns="0" bIns="0">
            <a:spAutoFit/>
          </a:bodyPr>
          <a:lstStyle/>
          <a:p>
            <a:pPr algn="l">
              <a:lnSpc>
                <a:spcPct val="112000"/>
              </a:lnSpc>
              <a:spcBef>
                <a:spcPts val="0"/>
              </a:spcBef>
              <a:spcAft>
                <a:spcPts val="400"/>
              </a:spcAft>
            </a:pPr>
            <a:r>
              <a:rPr sz="1250" b="1" i="0">
                <a:solidFill>
                  <a:srgbClr val="6D28D9"/>
                </a:solidFill>
                <a:latin typeface="Segoe UI"/>
              </a:rPr>
              <a:t>Project preference</a:t>
            </a:r>
          </a:p>
          <a:p>
            <a:pPr algn="l">
              <a:lnSpc>
                <a:spcPct val="112000"/>
              </a:lnSpc>
              <a:spcBef>
                <a:spcPts val="0"/>
              </a:spcBef>
              <a:spcAft>
                <a:spcPts val="400"/>
              </a:spcAft>
            </a:pPr>
            <a:r>
              <a:rPr sz="1100" b="0" i="0">
                <a:solidFill>
                  <a:srgbClr val="556377"/>
                </a:solidFill>
                <a:latin typeface="Segoe UI"/>
              </a:rPr>
              <a:t>The applicant's own ranking. Used only to break ties between equal scores — never inside the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ACROSS ALL BACKGROUNDS</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Same three factors — every school background</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03 / 09</a:t>
            </a:r>
          </a:p>
        </p:txBody>
      </p:sp>
      <p:sp>
        <p:nvSpPr>
          <p:cNvPr id="10" name="TextBox 9"/>
          <p:cNvSpPr txBox="1"/>
          <p:nvPr/>
        </p:nvSpPr>
        <p:spPr>
          <a:xfrm>
            <a:off x="713232" y="1371600"/>
            <a:ext cx="10881360" cy="411480"/>
          </a:xfrm>
          <a:prstGeom prst="rect">
            <a:avLst/>
          </a:prstGeom>
          <a:noFill/>
        </p:spPr>
        <p:txBody>
          <a:bodyPr wrap="square" anchor="t" lIns="0" rIns="0" tIns="0" bIns="0">
            <a:spAutoFit/>
          </a:bodyPr>
          <a:lstStyle/>
          <a:p>
            <a:pPr algn="l">
              <a:lnSpc>
                <a:spcPct val="100000"/>
              </a:lnSpc>
              <a:spcBef>
                <a:spcPts val="0"/>
              </a:spcBef>
              <a:spcAft>
                <a:spcPts val="400"/>
              </a:spcAft>
            </a:pPr>
            <a:r>
              <a:rPr sz="1250" b="0" i="0">
                <a:solidFill>
                  <a:srgbClr val="556377"/>
                </a:solidFill>
                <a:latin typeface="Segoe UI"/>
              </a:rPr>
              <a:t>The three factors don't change. Only </a:t>
            </a:r>
            <a:r>
              <a:rPr sz="1250" b="1" i="0">
                <a:solidFill>
                  <a:srgbClr val="0F172A"/>
                </a:solidFill>
                <a:latin typeface="Segoe UI"/>
              </a:rPr>
              <a:t>how we read Discipline of study and Standing</a:t>
            </a:r>
            <a:r>
              <a:rPr sz="1250" b="0" i="0">
                <a:solidFill>
                  <a:srgbClr val="556377"/>
                </a:solidFill>
                <a:latin typeface="Segoe UI"/>
              </a:rPr>
              <a:t> changes per background:</a:t>
            </a:r>
          </a:p>
        </p:txBody>
      </p:sp>
      <p:sp>
        <p:nvSpPr>
          <p:cNvPr id="11" name="Rounded Rectangle 10"/>
          <p:cNvSpPr/>
          <p:nvPr/>
        </p:nvSpPr>
        <p:spPr>
          <a:xfrm>
            <a:off x="713232" y="1828800"/>
            <a:ext cx="4114800" cy="420624"/>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828800"/>
            <a:ext cx="411480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Discipline of study  →  via the subject/discipline dictionary</a:t>
            </a:r>
          </a:p>
        </p:txBody>
      </p:sp>
      <p:sp>
        <p:nvSpPr>
          <p:cNvPr id="13" name="Rounded Rectangle 12"/>
          <p:cNvSpPr/>
          <p:nvPr/>
        </p:nvSpPr>
        <p:spPr>
          <a:xfrm>
            <a:off x="4983480" y="1828800"/>
            <a:ext cx="3840480" cy="420624"/>
          </a:xfrm>
          <a:prstGeom prst="roundRect">
            <a:avLst>
              <a:gd name="adj" fmla="val 50000"/>
            </a:avLst>
          </a:prstGeom>
          <a:solidFill>
            <a:srgbClr val="1E5B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0" y="1828800"/>
            <a:ext cx="3840480" cy="420624"/>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Standing  →  graded within its own system</a:t>
            </a:r>
          </a:p>
        </p:txBody>
      </p:sp>
      <p:sp>
        <p:nvSpPr>
          <p:cNvPr id="15" name="Rounded Rectangle 14"/>
          <p:cNvSpPr/>
          <p:nvPr/>
        </p:nvSpPr>
        <p:spPr>
          <a:xfrm>
            <a:off x="713232" y="2432304"/>
            <a:ext cx="10771632" cy="365760"/>
          </a:xfrm>
          <a:prstGeom prst="roundRect">
            <a:avLst>
              <a:gd name="adj" fmla="val 6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432304"/>
            <a:ext cx="2103120" cy="365760"/>
          </a:xfrm>
          <a:prstGeom prst="rect">
            <a:avLst/>
          </a:prstGeom>
          <a:noFill/>
        </p:spPr>
        <p:txBody>
          <a:bodyPr wrap="square" anchor="ctr" lIns="0" rIns="0" tIns="0" bIns="0">
            <a:spAutoFit/>
          </a:bodyPr>
          <a:lstStyle/>
          <a:p>
            <a:pPr algn="l">
              <a:lnSpc>
                <a:spcPct val="100000"/>
              </a:lnSpc>
              <a:spcBef>
                <a:spcPts val="0"/>
              </a:spcBef>
              <a:spcAft>
                <a:spcPts val="400"/>
              </a:spcAft>
            </a:pPr>
            <a:r>
              <a:rPr sz="1050" b="1" i="0">
                <a:solidFill>
                  <a:srgbClr val="FFFFFF"/>
                </a:solidFill>
                <a:latin typeface="Segoe UI"/>
              </a:rPr>
              <a:t>BACKGROUND</a:t>
            </a:r>
          </a:p>
        </p:txBody>
      </p:sp>
      <p:sp>
        <p:nvSpPr>
          <p:cNvPr id="17" name="TextBox 16"/>
          <p:cNvSpPr txBox="1"/>
          <p:nvPr/>
        </p:nvSpPr>
        <p:spPr>
          <a:xfrm>
            <a:off x="3182112" y="2432304"/>
            <a:ext cx="3931920" cy="365760"/>
          </a:xfrm>
          <a:prstGeom prst="rect">
            <a:avLst/>
          </a:prstGeom>
          <a:noFill/>
        </p:spPr>
        <p:txBody>
          <a:bodyPr wrap="square" anchor="ctr" lIns="0" rIns="0" tIns="0" bIns="0">
            <a:spAutoFit/>
          </a:bodyPr>
          <a:lstStyle/>
          <a:p>
            <a:pPr algn="l">
              <a:lnSpc>
                <a:spcPct val="100000"/>
              </a:lnSpc>
              <a:spcBef>
                <a:spcPts val="0"/>
              </a:spcBef>
              <a:spcAft>
                <a:spcPts val="400"/>
              </a:spcAft>
            </a:pPr>
            <a:r>
              <a:rPr sz="1050" b="1" i="0">
                <a:solidFill>
                  <a:srgbClr val="FFFFFF"/>
                </a:solidFill>
                <a:latin typeface="Segoe UI"/>
              </a:rPr>
              <a:t>WHAT WE READ FOR DISCIPLINE-FIT</a:t>
            </a:r>
          </a:p>
        </p:txBody>
      </p:sp>
      <p:sp>
        <p:nvSpPr>
          <p:cNvPr id="18" name="TextBox 17"/>
          <p:cNvSpPr txBox="1"/>
          <p:nvPr/>
        </p:nvSpPr>
        <p:spPr>
          <a:xfrm>
            <a:off x="7296912" y="2432304"/>
            <a:ext cx="4187952" cy="365760"/>
          </a:xfrm>
          <a:prstGeom prst="rect">
            <a:avLst/>
          </a:prstGeom>
          <a:noFill/>
        </p:spPr>
        <p:txBody>
          <a:bodyPr wrap="square" anchor="ctr" lIns="0" rIns="0" tIns="0" bIns="0">
            <a:spAutoFit/>
          </a:bodyPr>
          <a:lstStyle/>
          <a:p>
            <a:pPr algn="l">
              <a:lnSpc>
                <a:spcPct val="100000"/>
              </a:lnSpc>
              <a:spcBef>
                <a:spcPts val="0"/>
              </a:spcBef>
              <a:spcAft>
                <a:spcPts val="400"/>
              </a:spcAft>
            </a:pPr>
            <a:r>
              <a:rPr sz="1050" b="1" i="0">
                <a:solidFill>
                  <a:srgbClr val="FFFFFF"/>
                </a:solidFill>
                <a:latin typeface="Segoe UI"/>
              </a:rPr>
              <a:t>STANDING BAND COMES FROM</a:t>
            </a:r>
          </a:p>
        </p:txBody>
      </p:sp>
      <p:sp>
        <p:nvSpPr>
          <p:cNvPr id="19" name="Rectangle 18"/>
          <p:cNvSpPr/>
          <p:nvPr/>
        </p:nvSpPr>
        <p:spPr>
          <a:xfrm>
            <a:off x="713232" y="2852928"/>
            <a:ext cx="10771632" cy="402336"/>
          </a:xfrm>
          <a:prstGeom prst="rect">
            <a:avLst/>
          </a:prstGeom>
          <a:solidFill>
            <a:srgbClr val="FFFFFF"/>
          </a:solidFill>
          <a:ln w="635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852928"/>
            <a:ext cx="21031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Secondary (YDSP)</a:t>
            </a:r>
          </a:p>
        </p:txBody>
      </p:sp>
      <p:sp>
        <p:nvSpPr>
          <p:cNvPr id="21" name="TextBox 20"/>
          <p:cNvSpPr txBox="1"/>
          <p:nvPr/>
        </p:nvSpPr>
        <p:spPr>
          <a:xfrm>
            <a:off x="3182112" y="2852928"/>
            <a:ext cx="39319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Subjects + interests</a:t>
            </a:r>
          </a:p>
        </p:txBody>
      </p:sp>
      <p:sp>
        <p:nvSpPr>
          <p:cNvPr id="22" name="TextBox 21"/>
          <p:cNvSpPr txBox="1"/>
          <p:nvPr/>
        </p:nvSpPr>
        <p:spPr>
          <a:xfrm>
            <a:off x="7296912" y="2852928"/>
            <a:ext cx="4005072"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School / internal results</a:t>
            </a:r>
          </a:p>
        </p:txBody>
      </p:sp>
      <p:sp>
        <p:nvSpPr>
          <p:cNvPr id="23" name="Rectangle 22"/>
          <p:cNvSpPr/>
          <p:nvPr/>
        </p:nvSpPr>
        <p:spPr>
          <a:xfrm>
            <a:off x="713232" y="3255264"/>
            <a:ext cx="10771632" cy="402336"/>
          </a:xfrm>
          <a:prstGeom prst="rect">
            <a:avLst/>
          </a:prstGeom>
          <a:solidFill>
            <a:srgbClr val="F1F5F9"/>
          </a:solidFill>
          <a:ln w="635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255264"/>
            <a:ext cx="21031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JC (A-Level)</a:t>
            </a:r>
          </a:p>
        </p:txBody>
      </p:sp>
      <p:sp>
        <p:nvSpPr>
          <p:cNvPr id="25" name="TextBox 24"/>
          <p:cNvSpPr txBox="1"/>
          <p:nvPr/>
        </p:nvSpPr>
        <p:spPr>
          <a:xfrm>
            <a:off x="3182112" y="3255264"/>
            <a:ext cx="39319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H1 / H2 subjects (H2 counts more)</a:t>
            </a:r>
          </a:p>
        </p:txBody>
      </p:sp>
      <p:sp>
        <p:nvSpPr>
          <p:cNvPr id="26" name="TextBox 25"/>
          <p:cNvSpPr txBox="1"/>
          <p:nvPr/>
        </p:nvSpPr>
        <p:spPr>
          <a:xfrm>
            <a:off x="7296912" y="3255264"/>
            <a:ext cx="4005072"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A–E grades</a:t>
            </a:r>
          </a:p>
        </p:txBody>
      </p:sp>
      <p:sp>
        <p:nvSpPr>
          <p:cNvPr id="27" name="Rectangle 26"/>
          <p:cNvSpPr/>
          <p:nvPr/>
        </p:nvSpPr>
        <p:spPr>
          <a:xfrm>
            <a:off x="713232" y="3657600"/>
            <a:ext cx="10771632" cy="402336"/>
          </a:xfrm>
          <a:prstGeom prst="rect">
            <a:avLst/>
          </a:prstGeom>
          <a:solidFill>
            <a:srgbClr val="FFFFFF"/>
          </a:solidFill>
          <a:ln w="635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3657600"/>
            <a:ext cx="21031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IB</a:t>
            </a:r>
          </a:p>
        </p:txBody>
      </p:sp>
      <p:sp>
        <p:nvSpPr>
          <p:cNvPr id="29" name="TextBox 28"/>
          <p:cNvSpPr txBox="1"/>
          <p:nvPr/>
        </p:nvSpPr>
        <p:spPr>
          <a:xfrm>
            <a:off x="3182112" y="3657600"/>
            <a:ext cx="39319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HL / SL subjects (HL counts more)</a:t>
            </a:r>
          </a:p>
        </p:txBody>
      </p:sp>
      <p:sp>
        <p:nvSpPr>
          <p:cNvPr id="30" name="TextBox 29"/>
          <p:cNvSpPr txBox="1"/>
          <p:nvPr/>
        </p:nvSpPr>
        <p:spPr>
          <a:xfrm>
            <a:off x="7296912" y="3657600"/>
            <a:ext cx="4005072"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1–7 score / 45 total</a:t>
            </a:r>
          </a:p>
        </p:txBody>
      </p:sp>
      <p:sp>
        <p:nvSpPr>
          <p:cNvPr id="31" name="Rectangle 30"/>
          <p:cNvSpPr/>
          <p:nvPr/>
        </p:nvSpPr>
        <p:spPr>
          <a:xfrm>
            <a:off x="713232" y="4059936"/>
            <a:ext cx="10771632" cy="402336"/>
          </a:xfrm>
          <a:prstGeom prst="rect">
            <a:avLst/>
          </a:prstGeom>
          <a:solidFill>
            <a:srgbClr val="F1F5F9"/>
          </a:solidFill>
          <a:ln w="635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059936"/>
            <a:ext cx="21031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IP</a:t>
            </a:r>
          </a:p>
        </p:txBody>
      </p:sp>
      <p:sp>
        <p:nvSpPr>
          <p:cNvPr id="33" name="TextBox 32"/>
          <p:cNvSpPr txBox="1"/>
          <p:nvPr/>
        </p:nvSpPr>
        <p:spPr>
          <a:xfrm>
            <a:off x="3182112" y="4059936"/>
            <a:ext cx="39319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Subject combination</a:t>
            </a:r>
          </a:p>
        </p:txBody>
      </p:sp>
      <p:sp>
        <p:nvSpPr>
          <p:cNvPr id="34" name="TextBox 33"/>
          <p:cNvSpPr txBox="1"/>
          <p:nvPr/>
        </p:nvSpPr>
        <p:spPr>
          <a:xfrm>
            <a:off x="7296912" y="4059936"/>
            <a:ext cx="4005072"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School-based results</a:t>
            </a:r>
          </a:p>
        </p:txBody>
      </p:sp>
      <p:sp>
        <p:nvSpPr>
          <p:cNvPr id="35" name="Rectangle 34"/>
          <p:cNvSpPr/>
          <p:nvPr/>
        </p:nvSpPr>
        <p:spPr>
          <a:xfrm>
            <a:off x="713232" y="4462272"/>
            <a:ext cx="10771632" cy="402336"/>
          </a:xfrm>
          <a:prstGeom prst="rect">
            <a:avLst/>
          </a:prstGeom>
          <a:solidFill>
            <a:srgbClr val="FFFFFF"/>
          </a:solidFill>
          <a:ln w="635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4462272"/>
            <a:ext cx="21031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Polytechnic</a:t>
            </a:r>
          </a:p>
        </p:txBody>
      </p:sp>
      <p:sp>
        <p:nvSpPr>
          <p:cNvPr id="37" name="TextBox 36"/>
          <p:cNvSpPr txBox="1"/>
          <p:nvPr/>
        </p:nvSpPr>
        <p:spPr>
          <a:xfrm>
            <a:off x="3182112" y="4462272"/>
            <a:ext cx="39319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Diploma discipline</a:t>
            </a:r>
          </a:p>
        </p:txBody>
      </p:sp>
      <p:sp>
        <p:nvSpPr>
          <p:cNvPr id="38" name="TextBox 37"/>
          <p:cNvSpPr txBox="1"/>
          <p:nvPr/>
        </p:nvSpPr>
        <p:spPr>
          <a:xfrm>
            <a:off x="7296912" y="4462272"/>
            <a:ext cx="4005072"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Poly GPA</a:t>
            </a:r>
          </a:p>
        </p:txBody>
      </p:sp>
      <p:sp>
        <p:nvSpPr>
          <p:cNvPr id="39" name="Rectangle 38"/>
          <p:cNvSpPr/>
          <p:nvPr/>
        </p:nvSpPr>
        <p:spPr>
          <a:xfrm>
            <a:off x="713232" y="4864608"/>
            <a:ext cx="10771632" cy="402336"/>
          </a:xfrm>
          <a:prstGeom prst="rect">
            <a:avLst/>
          </a:prstGeom>
          <a:solidFill>
            <a:srgbClr val="F1F5F9"/>
          </a:solidFill>
          <a:ln w="635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864608"/>
            <a:ext cx="21031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University</a:t>
            </a:r>
          </a:p>
        </p:txBody>
      </p:sp>
      <p:sp>
        <p:nvSpPr>
          <p:cNvPr id="41" name="TextBox 40"/>
          <p:cNvSpPr txBox="1"/>
          <p:nvPr/>
        </p:nvSpPr>
        <p:spPr>
          <a:xfrm>
            <a:off x="3182112" y="4864608"/>
            <a:ext cx="3931920"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Degree discipline</a:t>
            </a:r>
          </a:p>
        </p:txBody>
      </p:sp>
      <p:sp>
        <p:nvSpPr>
          <p:cNvPr id="42" name="TextBox 41"/>
          <p:cNvSpPr txBox="1"/>
          <p:nvPr/>
        </p:nvSpPr>
        <p:spPr>
          <a:xfrm>
            <a:off x="7296912" y="4864608"/>
            <a:ext cx="4005072" cy="402336"/>
          </a:xfrm>
          <a:prstGeom prst="rect">
            <a:avLst/>
          </a:prstGeom>
          <a:noFill/>
        </p:spPr>
        <p:txBody>
          <a:bodyPr wrap="square" anchor="ctr" lIns="0" rIns="0" tIns="0" bIns="0">
            <a:spAutoFit/>
          </a:bodyPr>
          <a:lstStyle/>
          <a:p>
            <a:pPr algn="l">
              <a:lnSpc>
                <a:spcPct val="100000"/>
              </a:lnSpc>
              <a:spcBef>
                <a:spcPts val="0"/>
              </a:spcBef>
              <a:spcAft>
                <a:spcPts val="400"/>
              </a:spcAft>
            </a:pPr>
            <a:r>
              <a:rPr sz="1100" b="0" i="0">
                <a:solidFill>
                  <a:srgbClr val="556377"/>
                </a:solidFill>
                <a:latin typeface="Segoe UI"/>
              </a:rPr>
              <a:t>University GPA</a:t>
            </a:r>
          </a:p>
        </p:txBody>
      </p:sp>
      <p:sp>
        <p:nvSpPr>
          <p:cNvPr id="43" name="Rounded Rectangle 42"/>
          <p:cNvSpPr/>
          <p:nvPr/>
        </p:nvSpPr>
        <p:spPr>
          <a:xfrm>
            <a:off x="713232" y="5376672"/>
            <a:ext cx="10771632" cy="786384"/>
          </a:xfrm>
          <a:prstGeom prst="roundRect">
            <a:avLst>
              <a:gd name="adj" fmla="val 6000"/>
            </a:avLst>
          </a:prstGeom>
          <a:solidFill>
            <a:srgbClr val="E9EFFB"/>
          </a:solidFill>
          <a:ln w="15240">
            <a:solidFill>
              <a:srgbClr val="003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376672"/>
            <a:ext cx="10424160" cy="786384"/>
          </a:xfrm>
          <a:prstGeom prst="rect">
            <a:avLst/>
          </a:prstGeom>
          <a:noFill/>
        </p:spPr>
        <p:txBody>
          <a:bodyPr wrap="square" anchor="ctr" lIns="0" rIns="0" tIns="0" bIns="0">
            <a:spAutoFit/>
          </a:bodyPr>
          <a:lstStyle/>
          <a:p>
            <a:pPr algn="l">
              <a:lnSpc>
                <a:spcPct val="114000"/>
              </a:lnSpc>
              <a:spcBef>
                <a:spcPts val="0"/>
              </a:spcBef>
              <a:spcAft>
                <a:spcPts val="200"/>
              </a:spcAft>
            </a:pPr>
            <a:r>
              <a:rPr sz="1200" b="1" i="0">
                <a:solidFill>
                  <a:srgbClr val="00328A"/>
                </a:solidFill>
                <a:latin typeface="Segoe UI"/>
              </a:rPr>
              <a:t>Projects state a discipline, not subjects.</a:t>
            </a:r>
            <a:r>
              <a:rPr sz="1200" b="0" i="0">
                <a:solidFill>
                  <a:srgbClr val="0F172A"/>
                </a:solidFill>
                <a:latin typeface="Segoe UI"/>
              </a:rPr>
              <a:t>  A shared dictionary translates each discipline into its relevant subjects —</a:t>
            </a:r>
          </a:p>
          <a:p>
            <a:pPr algn="l">
              <a:lnSpc>
                <a:spcPct val="114000"/>
              </a:lnSpc>
              <a:spcBef>
                <a:spcPts val="0"/>
              </a:spcBef>
              <a:spcAft>
                <a:spcPts val="200"/>
              </a:spcAft>
            </a:pPr>
            <a:r>
              <a:rPr sz="1100" b="0" i="0">
                <a:solidFill>
                  <a:srgbClr val="556377"/>
                </a:solidFill>
                <a:latin typeface="Segoe UI"/>
              </a:rPr>
              <a:t>e.g. Computer Science → Maths, Computing, Physics — so subject-based applicants (JC / IB) are matched too. DSTA admins maintain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WORKED EXAMPLE</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A real applicant, scored in full</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04 / 09</a:t>
            </a:r>
          </a:p>
        </p:txBody>
      </p:sp>
      <p:sp>
        <p:nvSpPr>
          <p:cNvPr id="10" name="TextBox 9"/>
          <p:cNvSpPr txBox="1"/>
          <p:nvPr/>
        </p:nvSpPr>
        <p:spPr>
          <a:xfrm>
            <a:off x="713232" y="1325880"/>
            <a:ext cx="10789920" cy="365760"/>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56377"/>
                </a:solidFill>
                <a:latin typeface="Segoe UI"/>
              </a:rPr>
              <a:t>Putting it together: one real applicant from the prototype, scored on the three factors.</a:t>
            </a:r>
          </a:p>
        </p:txBody>
      </p:sp>
      <p:sp>
        <p:nvSpPr>
          <p:cNvPr id="11" name="Rounded Rectangle 10"/>
          <p:cNvSpPr/>
          <p:nvPr/>
        </p:nvSpPr>
        <p:spPr>
          <a:xfrm>
            <a:off x="713232" y="1783080"/>
            <a:ext cx="5120640" cy="841248"/>
          </a:xfrm>
          <a:prstGeom prst="roundRect">
            <a:avLst>
              <a:gd name="adj" fmla="val 8000"/>
            </a:avLst>
          </a:prstGeom>
          <a:solidFill>
            <a:srgbClr val="E9EF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83664"/>
            <a:ext cx="4754880" cy="68580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0F172A"/>
                </a:solidFill>
                <a:latin typeface="Segoe UI"/>
              </a:rPr>
              <a:t>Tan Wei Ming</a:t>
            </a:r>
          </a:p>
          <a:p>
            <a:pPr algn="l">
              <a:lnSpc>
                <a:spcPct val="100000"/>
              </a:lnSpc>
              <a:spcBef>
                <a:spcPts val="0"/>
              </a:spcBef>
              <a:spcAft>
                <a:spcPts val="400"/>
              </a:spcAft>
            </a:pPr>
            <a:r>
              <a:rPr sz="1150" b="0" i="0">
                <a:solidFill>
                  <a:srgbClr val="556377"/>
                </a:solidFill>
                <a:latin typeface="Segoe UI"/>
              </a:rPr>
              <a:t>Computer Science · GPA 3.8</a:t>
            </a:r>
          </a:p>
        </p:txBody>
      </p:sp>
      <p:sp>
        <p:nvSpPr>
          <p:cNvPr id="13" name="TextBox 12"/>
          <p:cNvSpPr txBox="1"/>
          <p:nvPr/>
        </p:nvSpPr>
        <p:spPr>
          <a:xfrm>
            <a:off x="5989320" y="1883664"/>
            <a:ext cx="640080" cy="685800"/>
          </a:xfrm>
          <a:prstGeom prst="rect">
            <a:avLst/>
          </a:prstGeom>
          <a:noFill/>
        </p:spPr>
        <p:txBody>
          <a:bodyPr wrap="square" anchor="ctr" lIns="0" rIns="0" tIns="0" bIns="0">
            <a:spAutoFit/>
          </a:bodyPr>
          <a:lstStyle/>
          <a:p>
            <a:pPr algn="l">
              <a:lnSpc>
                <a:spcPct val="100000"/>
              </a:lnSpc>
              <a:spcBef>
                <a:spcPts val="0"/>
              </a:spcBef>
              <a:spcAft>
                <a:spcPts val="400"/>
              </a:spcAft>
            </a:pPr>
            <a:r>
              <a:rPr sz="2000" b="1" i="0">
                <a:solidFill>
                  <a:srgbClr val="94A3B8"/>
                </a:solidFill>
                <a:latin typeface="Segoe UI"/>
              </a:rPr>
              <a:t>→</a:t>
            </a:r>
          </a:p>
        </p:txBody>
      </p:sp>
      <p:sp>
        <p:nvSpPr>
          <p:cNvPr id="14" name="Rounded Rectangle 13"/>
          <p:cNvSpPr/>
          <p:nvPr/>
        </p:nvSpPr>
        <p:spPr>
          <a:xfrm>
            <a:off x="6400800" y="1783080"/>
            <a:ext cx="5074920" cy="841248"/>
          </a:xfrm>
          <a:prstGeom prst="roundRect">
            <a:avLst>
              <a:gd name="adj" fmla="val 8000"/>
            </a:avLst>
          </a:prstGeom>
          <a:solidFill>
            <a:srgbClr val="F1F5F9"/>
          </a:solidFill>
          <a:ln w="1270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1883664"/>
            <a:ext cx="4754880" cy="685800"/>
          </a:xfrm>
          <a:prstGeom prst="rect">
            <a:avLst/>
          </a:prstGeom>
          <a:noFill/>
        </p:spPr>
        <p:txBody>
          <a:bodyPr wrap="square" anchor="t" lIns="0" rIns="0" tIns="0" bIns="0">
            <a:spAutoFit/>
          </a:bodyPr>
          <a:lstStyle/>
          <a:p>
            <a:pPr algn="l">
              <a:lnSpc>
                <a:spcPct val="105000"/>
              </a:lnSpc>
              <a:spcBef>
                <a:spcPts val="0"/>
              </a:spcBef>
              <a:spcAft>
                <a:spcPts val="400"/>
              </a:spcAft>
            </a:pPr>
            <a:r>
              <a:rPr sz="1300" b="1" i="0">
                <a:solidFill>
                  <a:srgbClr val="0F172A"/>
                </a:solidFill>
                <a:latin typeface="Segoe UI"/>
              </a:rPr>
              <a:t>Project: Cybersecurity Threat Analysis</a:t>
            </a:r>
          </a:p>
          <a:p>
            <a:pPr algn="l">
              <a:lnSpc>
                <a:spcPct val="105000"/>
              </a:lnSpc>
              <a:spcBef>
                <a:spcPts val="0"/>
              </a:spcBef>
              <a:spcAft>
                <a:spcPts val="400"/>
              </a:spcAft>
            </a:pPr>
            <a:r>
              <a:rPr sz="1050" b="0" i="0">
                <a:solidFill>
                  <a:srgbClr val="556377"/>
                </a:solidFill>
                <a:latin typeface="Segoe UI"/>
              </a:rPr>
              <a:t>needs Python, Threat Intel, MITRE ATT&amp;CK · CS / InfoSec discipline</a:t>
            </a:r>
          </a:p>
        </p:txBody>
      </p:sp>
      <p:sp>
        <p:nvSpPr>
          <p:cNvPr id="16" name="TextBox 15"/>
          <p:cNvSpPr txBox="1"/>
          <p:nvPr/>
        </p:nvSpPr>
        <p:spPr>
          <a:xfrm>
            <a:off x="777240" y="2880360"/>
            <a:ext cx="210312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F172A"/>
                </a:solidFill>
                <a:latin typeface="Segoe UI"/>
              </a:rPr>
              <a:t>Discipline of study  </a:t>
            </a:r>
            <a:r>
              <a:rPr sz="1150" b="1" i="0">
                <a:solidFill>
                  <a:srgbClr val="00328A"/>
                </a:solidFill>
                <a:latin typeface="Segoe UI"/>
              </a:rPr>
              <a:t>× 50%</a:t>
            </a:r>
          </a:p>
        </p:txBody>
      </p:sp>
      <p:sp>
        <p:nvSpPr>
          <p:cNvPr id="17" name="TextBox 16"/>
          <p:cNvSpPr txBox="1"/>
          <p:nvPr/>
        </p:nvSpPr>
        <p:spPr>
          <a:xfrm>
            <a:off x="3429000" y="2880360"/>
            <a:ext cx="640080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556377"/>
                </a:solidFill>
                <a:latin typeface="Segoe UI"/>
              </a:rPr>
              <a:t>Computer Science is exactly a required discipline</a:t>
            </a:r>
          </a:p>
        </p:txBody>
      </p:sp>
      <p:sp>
        <p:nvSpPr>
          <p:cNvPr id="18" name="TextBox 17"/>
          <p:cNvSpPr txBox="1"/>
          <p:nvPr/>
        </p:nvSpPr>
        <p:spPr>
          <a:xfrm>
            <a:off x="10241280" y="2880360"/>
            <a:ext cx="1234440" cy="365760"/>
          </a:xfrm>
          <a:prstGeom prst="rect">
            <a:avLst/>
          </a:prstGeom>
          <a:noFill/>
        </p:spPr>
        <p:txBody>
          <a:bodyPr wrap="square" anchor="t" lIns="0" rIns="0" tIns="0" bIns="0">
            <a:spAutoFit/>
          </a:bodyPr>
          <a:lstStyle/>
          <a:p>
            <a:pPr algn="r">
              <a:lnSpc>
                <a:spcPct val="100000"/>
              </a:lnSpc>
              <a:spcBef>
                <a:spcPts val="0"/>
              </a:spcBef>
              <a:spcAft>
                <a:spcPts val="400"/>
              </a:spcAft>
            </a:pPr>
            <a:r>
              <a:rPr sz="1250" b="1" i="0">
                <a:solidFill>
                  <a:srgbClr val="00328A"/>
                </a:solidFill>
                <a:latin typeface="Segoe UI"/>
              </a:rPr>
              <a:t>100 / 100</a:t>
            </a:r>
          </a:p>
        </p:txBody>
      </p:sp>
      <p:sp>
        <p:nvSpPr>
          <p:cNvPr id="19" name="Rounded Rectangle 18"/>
          <p:cNvSpPr/>
          <p:nvPr/>
        </p:nvSpPr>
        <p:spPr>
          <a:xfrm>
            <a:off x="777240" y="3191256"/>
            <a:ext cx="10698480" cy="118872"/>
          </a:xfrm>
          <a:prstGeom prst="roundRect">
            <a:avLst>
              <a:gd name="adj" fmla="val 50000"/>
            </a:avLst>
          </a:prstGeom>
          <a:solidFill>
            <a:srgbClr val="CFD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3191256"/>
            <a:ext cx="10698480" cy="118872"/>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447288"/>
            <a:ext cx="210312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F172A"/>
                </a:solidFill>
                <a:latin typeface="Segoe UI"/>
              </a:rPr>
              <a:t>Skills  </a:t>
            </a:r>
            <a:r>
              <a:rPr sz="1150" b="1" i="0">
                <a:solidFill>
                  <a:srgbClr val="00328A"/>
                </a:solidFill>
                <a:latin typeface="Segoe UI"/>
              </a:rPr>
              <a:t>× 30%</a:t>
            </a:r>
          </a:p>
        </p:txBody>
      </p:sp>
      <p:sp>
        <p:nvSpPr>
          <p:cNvPr id="22" name="TextBox 21"/>
          <p:cNvSpPr txBox="1"/>
          <p:nvPr/>
        </p:nvSpPr>
        <p:spPr>
          <a:xfrm>
            <a:off x="3429000" y="3447288"/>
            <a:ext cx="640080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556377"/>
                </a:solidFill>
                <a:latin typeface="Segoe UI"/>
              </a:rPr>
              <a:t>has Python + security basics; lighter on MITRE ATT&amp;CK, forensics</a:t>
            </a:r>
          </a:p>
        </p:txBody>
      </p:sp>
      <p:sp>
        <p:nvSpPr>
          <p:cNvPr id="23" name="TextBox 22"/>
          <p:cNvSpPr txBox="1"/>
          <p:nvPr/>
        </p:nvSpPr>
        <p:spPr>
          <a:xfrm>
            <a:off x="10241280" y="3447288"/>
            <a:ext cx="1234440" cy="365760"/>
          </a:xfrm>
          <a:prstGeom prst="rect">
            <a:avLst/>
          </a:prstGeom>
          <a:noFill/>
        </p:spPr>
        <p:txBody>
          <a:bodyPr wrap="square" anchor="t" lIns="0" rIns="0" tIns="0" bIns="0">
            <a:spAutoFit/>
          </a:bodyPr>
          <a:lstStyle/>
          <a:p>
            <a:pPr algn="r">
              <a:lnSpc>
                <a:spcPct val="100000"/>
              </a:lnSpc>
              <a:spcBef>
                <a:spcPts val="0"/>
              </a:spcBef>
              <a:spcAft>
                <a:spcPts val="400"/>
              </a:spcAft>
            </a:pPr>
            <a:r>
              <a:rPr sz="1250" b="1" i="0">
                <a:solidFill>
                  <a:srgbClr val="00328A"/>
                </a:solidFill>
                <a:latin typeface="Segoe UI"/>
              </a:rPr>
              <a:t>60 / 100</a:t>
            </a:r>
          </a:p>
        </p:txBody>
      </p:sp>
      <p:sp>
        <p:nvSpPr>
          <p:cNvPr id="24" name="Rounded Rectangle 23"/>
          <p:cNvSpPr/>
          <p:nvPr/>
        </p:nvSpPr>
        <p:spPr>
          <a:xfrm>
            <a:off x="777240" y="3758184"/>
            <a:ext cx="10698480" cy="118872"/>
          </a:xfrm>
          <a:prstGeom prst="roundRect">
            <a:avLst>
              <a:gd name="adj" fmla="val 50000"/>
            </a:avLst>
          </a:prstGeom>
          <a:solidFill>
            <a:srgbClr val="CFD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77240" y="3758184"/>
            <a:ext cx="6419088" cy="118872"/>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014215"/>
            <a:ext cx="210312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0F172A"/>
                </a:solidFill>
                <a:latin typeface="Segoe UI"/>
              </a:rPr>
              <a:t>Standing  </a:t>
            </a:r>
            <a:r>
              <a:rPr sz="1150" b="1" i="0">
                <a:solidFill>
                  <a:srgbClr val="15803D"/>
                </a:solidFill>
                <a:latin typeface="Segoe UI"/>
              </a:rPr>
              <a:t>× 20%</a:t>
            </a:r>
          </a:p>
        </p:txBody>
      </p:sp>
      <p:sp>
        <p:nvSpPr>
          <p:cNvPr id="27" name="TextBox 26"/>
          <p:cNvSpPr txBox="1"/>
          <p:nvPr/>
        </p:nvSpPr>
        <p:spPr>
          <a:xfrm>
            <a:off x="3429000" y="4014215"/>
            <a:ext cx="640080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0" i="0">
                <a:solidFill>
                  <a:srgbClr val="556377"/>
                </a:solidFill>
                <a:latin typeface="Segoe UI"/>
              </a:rPr>
              <a:t>GPA 3.8 → “Strong” band (within university track) → 80</a:t>
            </a:r>
          </a:p>
        </p:txBody>
      </p:sp>
      <p:sp>
        <p:nvSpPr>
          <p:cNvPr id="28" name="TextBox 27"/>
          <p:cNvSpPr txBox="1"/>
          <p:nvPr/>
        </p:nvSpPr>
        <p:spPr>
          <a:xfrm>
            <a:off x="10241280" y="4014215"/>
            <a:ext cx="1234440" cy="365760"/>
          </a:xfrm>
          <a:prstGeom prst="rect">
            <a:avLst/>
          </a:prstGeom>
          <a:noFill/>
        </p:spPr>
        <p:txBody>
          <a:bodyPr wrap="square" anchor="t" lIns="0" rIns="0" tIns="0" bIns="0">
            <a:spAutoFit/>
          </a:bodyPr>
          <a:lstStyle/>
          <a:p>
            <a:pPr algn="r">
              <a:lnSpc>
                <a:spcPct val="100000"/>
              </a:lnSpc>
              <a:spcBef>
                <a:spcPts val="0"/>
              </a:spcBef>
              <a:spcAft>
                <a:spcPts val="400"/>
              </a:spcAft>
            </a:pPr>
            <a:r>
              <a:rPr sz="1250" b="1" i="0">
                <a:solidFill>
                  <a:srgbClr val="15803D"/>
                </a:solidFill>
                <a:latin typeface="Segoe UI"/>
              </a:rPr>
              <a:t>80 / 100</a:t>
            </a:r>
          </a:p>
        </p:txBody>
      </p:sp>
      <p:sp>
        <p:nvSpPr>
          <p:cNvPr id="29" name="Rounded Rectangle 28"/>
          <p:cNvSpPr/>
          <p:nvPr/>
        </p:nvSpPr>
        <p:spPr>
          <a:xfrm>
            <a:off x="777240" y="4325112"/>
            <a:ext cx="10698480" cy="118872"/>
          </a:xfrm>
          <a:prstGeom prst="roundRect">
            <a:avLst>
              <a:gd name="adj" fmla="val 50000"/>
            </a:avLst>
          </a:prstGeom>
          <a:solidFill>
            <a:srgbClr val="CFD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77240" y="4325112"/>
            <a:ext cx="8558784" cy="1188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617720"/>
            <a:ext cx="2194560" cy="320040"/>
          </a:xfrm>
          <a:prstGeom prst="rect">
            <a:avLst/>
          </a:prstGeom>
          <a:noFill/>
        </p:spPr>
        <p:txBody>
          <a:bodyPr wrap="square" anchor="t" lIns="0" rIns="0" tIns="0" bIns="0">
            <a:spAutoFit/>
          </a:bodyPr>
          <a:lstStyle/>
          <a:p>
            <a:pPr algn="l">
              <a:lnSpc>
                <a:spcPct val="100000"/>
              </a:lnSpc>
              <a:spcBef>
                <a:spcPts val="0"/>
              </a:spcBef>
              <a:spcAft>
                <a:spcPts val="400"/>
              </a:spcAft>
            </a:pPr>
            <a:r>
              <a:rPr sz="1050" b="1" i="0">
                <a:solidFill>
                  <a:srgbClr val="94A3B8"/>
                </a:solidFill>
                <a:latin typeface="Segoe UI"/>
              </a:rPr>
              <a:t>Standing bands:</a:t>
            </a:r>
          </a:p>
        </p:txBody>
      </p:sp>
      <p:sp>
        <p:nvSpPr>
          <p:cNvPr id="32" name="Rounded Rectangle 31"/>
          <p:cNvSpPr/>
          <p:nvPr/>
        </p:nvSpPr>
        <p:spPr>
          <a:xfrm>
            <a:off x="2331720" y="4590288"/>
            <a:ext cx="1325880" cy="32918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331720" y="4590288"/>
            <a:ext cx="1325880" cy="329184"/>
          </a:xfrm>
          <a:prstGeom prst="rect">
            <a:avLst/>
          </a:prstGeom>
          <a:noFill/>
        </p:spPr>
        <p:txBody>
          <a:bodyPr wrap="square" anchor="ctr" lIns="0" rIns="0" tIns="0" bIns="0">
            <a:spAutoFit/>
          </a:bodyPr>
          <a:lstStyle/>
          <a:p>
            <a:pPr algn="ctr">
              <a:lnSpc>
                <a:spcPct val="100000"/>
              </a:lnSpc>
              <a:spcBef>
                <a:spcPts val="0"/>
              </a:spcBef>
              <a:spcAft>
                <a:spcPts val="400"/>
              </a:spcAft>
            </a:pPr>
            <a:r>
              <a:rPr sz="1000" b="1" i="0">
                <a:solidFill>
                  <a:srgbClr val="0F172A"/>
                </a:solidFill>
                <a:latin typeface="Segoe UI"/>
              </a:rPr>
              <a:t>Top = 100</a:t>
            </a:r>
          </a:p>
        </p:txBody>
      </p:sp>
      <p:sp>
        <p:nvSpPr>
          <p:cNvPr id="34" name="Rounded Rectangle 33"/>
          <p:cNvSpPr/>
          <p:nvPr/>
        </p:nvSpPr>
        <p:spPr>
          <a:xfrm>
            <a:off x="3749039" y="4590288"/>
            <a:ext cx="1325880" cy="32918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49039" y="4590288"/>
            <a:ext cx="1325880" cy="329184"/>
          </a:xfrm>
          <a:prstGeom prst="rect">
            <a:avLst/>
          </a:prstGeom>
          <a:noFill/>
        </p:spPr>
        <p:txBody>
          <a:bodyPr wrap="square" anchor="ctr" lIns="0" rIns="0" tIns="0" bIns="0">
            <a:spAutoFit/>
          </a:bodyPr>
          <a:lstStyle/>
          <a:p>
            <a:pPr algn="ctr">
              <a:lnSpc>
                <a:spcPct val="100000"/>
              </a:lnSpc>
              <a:spcBef>
                <a:spcPts val="0"/>
              </a:spcBef>
              <a:spcAft>
                <a:spcPts val="400"/>
              </a:spcAft>
            </a:pPr>
            <a:r>
              <a:rPr sz="1000" b="1" i="0">
                <a:solidFill>
                  <a:srgbClr val="0F172A"/>
                </a:solidFill>
                <a:latin typeface="Segoe UI"/>
              </a:rPr>
              <a:t>Strong = 80</a:t>
            </a:r>
          </a:p>
        </p:txBody>
      </p:sp>
      <p:sp>
        <p:nvSpPr>
          <p:cNvPr id="36" name="Rounded Rectangle 35"/>
          <p:cNvSpPr/>
          <p:nvPr/>
        </p:nvSpPr>
        <p:spPr>
          <a:xfrm>
            <a:off x="5166360" y="4590288"/>
            <a:ext cx="1325880" cy="32918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60" y="4590288"/>
            <a:ext cx="1325880" cy="329184"/>
          </a:xfrm>
          <a:prstGeom prst="rect">
            <a:avLst/>
          </a:prstGeom>
          <a:noFill/>
        </p:spPr>
        <p:txBody>
          <a:bodyPr wrap="square" anchor="ctr" lIns="0" rIns="0" tIns="0" bIns="0">
            <a:spAutoFit/>
          </a:bodyPr>
          <a:lstStyle/>
          <a:p>
            <a:pPr algn="ctr">
              <a:lnSpc>
                <a:spcPct val="100000"/>
              </a:lnSpc>
              <a:spcBef>
                <a:spcPts val="0"/>
              </a:spcBef>
              <a:spcAft>
                <a:spcPts val="400"/>
              </a:spcAft>
            </a:pPr>
            <a:r>
              <a:rPr sz="1000" b="1" i="0">
                <a:solidFill>
                  <a:srgbClr val="0F172A"/>
                </a:solidFill>
                <a:latin typeface="Segoe UI"/>
              </a:rPr>
              <a:t>Solid = 60</a:t>
            </a:r>
          </a:p>
        </p:txBody>
      </p:sp>
      <p:sp>
        <p:nvSpPr>
          <p:cNvPr id="38" name="Rounded Rectangle 37"/>
          <p:cNvSpPr/>
          <p:nvPr/>
        </p:nvSpPr>
        <p:spPr>
          <a:xfrm>
            <a:off x="6583680" y="4590288"/>
            <a:ext cx="1325880" cy="329184"/>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4590288"/>
            <a:ext cx="1325880" cy="329184"/>
          </a:xfrm>
          <a:prstGeom prst="rect">
            <a:avLst/>
          </a:prstGeom>
          <a:noFill/>
        </p:spPr>
        <p:txBody>
          <a:bodyPr wrap="square" anchor="ctr" lIns="0" rIns="0" tIns="0" bIns="0">
            <a:spAutoFit/>
          </a:bodyPr>
          <a:lstStyle/>
          <a:p>
            <a:pPr algn="ctr">
              <a:lnSpc>
                <a:spcPct val="100000"/>
              </a:lnSpc>
              <a:spcBef>
                <a:spcPts val="0"/>
              </a:spcBef>
              <a:spcAft>
                <a:spcPts val="400"/>
              </a:spcAft>
            </a:pPr>
            <a:r>
              <a:rPr sz="1000" b="1" i="0">
                <a:solidFill>
                  <a:srgbClr val="0F172A"/>
                </a:solidFill>
                <a:latin typeface="Segoe UI"/>
              </a:rPr>
              <a:t>Borderline = 40</a:t>
            </a:r>
          </a:p>
        </p:txBody>
      </p:sp>
      <p:sp>
        <p:nvSpPr>
          <p:cNvPr id="40" name="Rounded Rectangle 39"/>
          <p:cNvSpPr/>
          <p:nvPr/>
        </p:nvSpPr>
        <p:spPr>
          <a:xfrm>
            <a:off x="713232" y="5120640"/>
            <a:ext cx="4206240" cy="868680"/>
          </a:xfrm>
          <a:prstGeom prst="roundRect">
            <a:avLst>
              <a:gd name="adj" fmla="val 6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5120640"/>
            <a:ext cx="3840480" cy="868680"/>
          </a:xfrm>
          <a:prstGeom prst="rect">
            <a:avLst/>
          </a:prstGeom>
          <a:noFill/>
        </p:spPr>
        <p:txBody>
          <a:bodyPr wrap="square" anchor="ctr" lIns="0" rIns="0" tIns="0" bIns="0">
            <a:spAutoFit/>
          </a:bodyPr>
          <a:lstStyle/>
          <a:p>
            <a:pPr algn="l">
              <a:lnSpc>
                <a:spcPct val="100000"/>
              </a:lnSpc>
              <a:spcBef>
                <a:spcPts val="0"/>
              </a:spcBef>
              <a:spcAft>
                <a:spcPts val="400"/>
              </a:spcAft>
            </a:pPr>
            <a:r>
              <a:rPr sz="950" b="1" i="0">
                <a:solidFill>
                  <a:srgbClr val="BDD0F2"/>
                </a:solidFill>
                <a:latin typeface="Segoe UI"/>
              </a:rPr>
              <a:t>SUITABILITY SCORE</a:t>
            </a:r>
          </a:p>
          <a:p>
            <a:pPr algn="l">
              <a:lnSpc>
                <a:spcPct val="100000"/>
              </a:lnSpc>
              <a:spcBef>
                <a:spcPts val="0"/>
              </a:spcBef>
              <a:spcAft>
                <a:spcPts val="400"/>
              </a:spcAft>
            </a:pPr>
            <a:r>
              <a:rPr sz="2400" b="1" i="0">
                <a:solidFill>
                  <a:srgbClr val="FFFFFF"/>
                </a:solidFill>
                <a:latin typeface="Segoe UI"/>
              </a:rPr>
              <a:t>84 / 100</a:t>
            </a:r>
          </a:p>
        </p:txBody>
      </p:sp>
      <p:sp>
        <p:nvSpPr>
          <p:cNvPr id="42" name="Rounded Rectangle 41"/>
          <p:cNvSpPr/>
          <p:nvPr/>
        </p:nvSpPr>
        <p:spPr>
          <a:xfrm>
            <a:off x="5074920" y="5120640"/>
            <a:ext cx="6400800" cy="868680"/>
          </a:xfrm>
          <a:prstGeom prst="roundRect">
            <a:avLst>
              <a:gd name="adj" fmla="val 6000"/>
            </a:avLst>
          </a:prstGeom>
          <a:solidFill>
            <a:srgbClr val="F1F5F9"/>
          </a:solidFill>
          <a:ln w="1270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03520" y="5184648"/>
            <a:ext cx="6035040" cy="777240"/>
          </a:xfrm>
          <a:prstGeom prst="rect">
            <a:avLst/>
          </a:prstGeom>
          <a:noFill/>
        </p:spPr>
        <p:txBody>
          <a:bodyPr wrap="square" anchor="ctr" lIns="0" rIns="0" tIns="0" bIns="0">
            <a:spAutoFit/>
          </a:bodyPr>
          <a:lstStyle/>
          <a:p>
            <a:pPr algn="l">
              <a:lnSpc>
                <a:spcPct val="115000"/>
              </a:lnSpc>
              <a:spcBef>
                <a:spcPts val="0"/>
              </a:spcBef>
              <a:spcAft>
                <a:spcPts val="400"/>
              </a:spcAft>
            </a:pPr>
            <a:r>
              <a:rPr sz="1350" b="1" i="0">
                <a:solidFill>
                  <a:srgbClr val="0F172A"/>
                </a:solidFill>
                <a:latin typeface="Segoe UI"/>
              </a:rPr>
              <a:t>0.50×100  +  0.30×60  +  0.20×80  =  84</a:t>
            </a:r>
          </a:p>
          <a:p>
            <a:pPr algn="l">
              <a:lnSpc>
                <a:spcPct val="115000"/>
              </a:lnSpc>
              <a:spcBef>
                <a:spcPts val="0"/>
              </a:spcBef>
              <a:spcAft>
                <a:spcPts val="400"/>
              </a:spcAft>
            </a:pPr>
            <a:r>
              <a:rPr sz="1050" b="0" i="1">
                <a:solidFill>
                  <a:srgbClr val="556377"/>
                </a:solidFill>
                <a:latin typeface="Segoe UI"/>
              </a:rPr>
              <a:t>Every number is shown to the user — nothing hidden.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THE HARD CASE</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Post-JC / Post-Poly — one pool, many school systems</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05 / 09</a:t>
            </a:r>
          </a:p>
        </p:txBody>
      </p:sp>
      <p:sp>
        <p:nvSpPr>
          <p:cNvPr id="10" name="TextBox 9"/>
          <p:cNvSpPr txBox="1"/>
          <p:nvPr/>
        </p:nvSpPr>
        <p:spPr>
          <a:xfrm>
            <a:off x="713232" y="1298448"/>
            <a:ext cx="10881360" cy="329184"/>
          </a:xfrm>
          <a:prstGeom prst="rect">
            <a:avLst/>
          </a:prstGeom>
          <a:noFill/>
        </p:spPr>
        <p:txBody>
          <a:bodyPr wrap="square" anchor="t" lIns="0" rIns="0" tIns="0" bIns="0">
            <a:spAutoFit/>
          </a:bodyPr>
          <a:lstStyle/>
          <a:p>
            <a:pPr algn="l">
              <a:lnSpc>
                <a:spcPct val="100000"/>
              </a:lnSpc>
              <a:spcBef>
                <a:spcPts val="0"/>
              </a:spcBef>
              <a:spcAft>
                <a:spcPts val="400"/>
              </a:spcAft>
            </a:pPr>
            <a:r>
              <a:rPr sz="1200" b="0" i="0">
                <a:solidFill>
                  <a:srgbClr val="556377"/>
                </a:solidFill>
                <a:latin typeface="Segoe UI"/>
              </a:rPr>
              <a:t>One pool mixes several school systems for the </a:t>
            </a:r>
            <a:r>
              <a:rPr sz="1200" b="1" i="0">
                <a:solidFill>
                  <a:srgbClr val="0F172A"/>
                </a:solidFill>
                <a:latin typeface="Segoe UI"/>
              </a:rPr>
              <a:t>same project</a:t>
            </a:r>
            <a:r>
              <a:rPr sz="1200" b="0" i="0">
                <a:solidFill>
                  <a:srgbClr val="556377"/>
                </a:solidFill>
                <a:latin typeface="Segoe UI"/>
              </a:rPr>
              <a:t>. Same formula, scored side by side:</a:t>
            </a:r>
          </a:p>
        </p:txBody>
      </p:sp>
      <p:sp>
        <p:nvSpPr>
          <p:cNvPr id="11" name="Rounded Rectangle 10"/>
          <p:cNvSpPr/>
          <p:nvPr/>
        </p:nvSpPr>
        <p:spPr>
          <a:xfrm>
            <a:off x="713232" y="1682496"/>
            <a:ext cx="10771632" cy="384048"/>
          </a:xfrm>
          <a:prstGeom prst="roundRect">
            <a:avLst>
              <a:gd name="adj" fmla="val 8000"/>
            </a:avLst>
          </a:prstGeom>
          <a:solidFill>
            <a:srgbClr val="F1F5F9"/>
          </a:solidFill>
          <a:ln w="12700">
            <a:solidFill>
              <a:srgbClr val="D7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682496"/>
            <a:ext cx="10424160" cy="384048"/>
          </a:xfrm>
          <a:prstGeom prst="rect">
            <a:avLst/>
          </a:prstGeom>
          <a:noFill/>
        </p:spPr>
        <p:txBody>
          <a:bodyPr wrap="square" anchor="ctr" lIns="0" rIns="0" tIns="0" bIns="0">
            <a:spAutoFit/>
          </a:bodyPr>
          <a:lstStyle/>
          <a:p>
            <a:pPr algn="l">
              <a:lnSpc>
                <a:spcPct val="100000"/>
              </a:lnSpc>
              <a:spcBef>
                <a:spcPts val="0"/>
              </a:spcBef>
              <a:spcAft>
                <a:spcPts val="400"/>
              </a:spcAft>
            </a:pPr>
            <a:r>
              <a:rPr sz="1150" b="1" i="0">
                <a:solidFill>
                  <a:srgbClr val="0F172A"/>
                </a:solidFill>
                <a:latin typeface="Segoe UI"/>
              </a:rPr>
              <a:t>Project: Defence Simulation Modelling</a:t>
            </a:r>
            <a:r>
              <a:rPr sz="1050" b="0" i="0">
                <a:solidFill>
                  <a:srgbClr val="556377"/>
                </a:solidFill>
                <a:latin typeface="Segoe UI"/>
              </a:rPr>
              <a:t>   — needs Computer Science / Maths · Python, MATLAB, simulation</a:t>
            </a:r>
          </a:p>
        </p:txBody>
      </p:sp>
      <p:sp>
        <p:nvSpPr>
          <p:cNvPr id="13" name="TextBox 12"/>
          <p:cNvSpPr txBox="1"/>
          <p:nvPr/>
        </p:nvSpPr>
        <p:spPr>
          <a:xfrm>
            <a:off x="713232" y="2139696"/>
            <a:ext cx="10771632" cy="292608"/>
          </a:xfrm>
          <a:prstGeom prst="rect">
            <a:avLst/>
          </a:prstGeom>
          <a:noFill/>
        </p:spPr>
        <p:txBody>
          <a:bodyPr wrap="square" anchor="t" lIns="0" rIns="0" tIns="0" bIns="0">
            <a:spAutoFit/>
          </a:bodyPr>
          <a:lstStyle/>
          <a:p>
            <a:pPr algn="ctr">
              <a:lnSpc>
                <a:spcPct val="100000"/>
              </a:lnSpc>
              <a:spcBef>
                <a:spcPts val="0"/>
              </a:spcBef>
              <a:spcAft>
                <a:spcPts val="400"/>
              </a:spcAft>
            </a:pPr>
            <a:r>
              <a:rPr sz="1100" b="1" i="0">
                <a:solidFill>
                  <a:srgbClr val="00328A"/>
                </a:solidFill>
                <a:latin typeface="Segoe UI"/>
              </a:rPr>
              <a:t>Suitability = 0.5 × Discipline  +  0.3 × Skills  +  0.2 × Standing</a:t>
            </a:r>
          </a:p>
        </p:txBody>
      </p:sp>
      <p:sp>
        <p:nvSpPr>
          <p:cNvPr id="14" name="Rounded Rectangle 13"/>
          <p:cNvSpPr/>
          <p:nvPr/>
        </p:nvSpPr>
        <p:spPr>
          <a:xfrm>
            <a:off x="713232" y="2505456"/>
            <a:ext cx="2615184" cy="2999232"/>
          </a:xfrm>
          <a:prstGeom prst="roundRect">
            <a:avLst>
              <a:gd name="adj" fmla="val 5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77824" y="2651760"/>
            <a:ext cx="2286000" cy="36576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2651760"/>
            <a:ext cx="228600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A-Level (JC)</a:t>
            </a:r>
          </a:p>
        </p:txBody>
      </p:sp>
      <p:sp>
        <p:nvSpPr>
          <p:cNvPr id="17" name="TextBox 16"/>
          <p:cNvSpPr txBox="1"/>
          <p:nvPr/>
        </p:nvSpPr>
        <p:spPr>
          <a:xfrm>
            <a:off x="896112" y="3090672"/>
            <a:ext cx="2286000" cy="530352"/>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56377"/>
                </a:solidFill>
                <a:latin typeface="Segoe UI"/>
              </a:rPr>
              <a:t>H2 Maths (A), H2 Computing</a:t>
            </a:r>
          </a:p>
        </p:txBody>
      </p:sp>
      <p:sp>
        <p:nvSpPr>
          <p:cNvPr id="18" name="TextBox 17"/>
          <p:cNvSpPr txBox="1"/>
          <p:nvPr/>
        </p:nvSpPr>
        <p:spPr>
          <a:xfrm>
            <a:off x="896112" y="3675887"/>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Discipline ×50</a:t>
            </a:r>
          </a:p>
        </p:txBody>
      </p:sp>
      <p:sp>
        <p:nvSpPr>
          <p:cNvPr id="19" name="TextBox 18"/>
          <p:cNvSpPr txBox="1"/>
          <p:nvPr/>
        </p:nvSpPr>
        <p:spPr>
          <a:xfrm>
            <a:off x="2551175" y="3675887"/>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94</a:t>
            </a:r>
          </a:p>
        </p:txBody>
      </p:sp>
      <p:sp>
        <p:nvSpPr>
          <p:cNvPr id="20" name="TextBox 19"/>
          <p:cNvSpPr txBox="1"/>
          <p:nvPr/>
        </p:nvSpPr>
        <p:spPr>
          <a:xfrm>
            <a:off x="896112" y="3986783"/>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Skills ×30</a:t>
            </a:r>
          </a:p>
        </p:txBody>
      </p:sp>
      <p:sp>
        <p:nvSpPr>
          <p:cNvPr id="21" name="TextBox 20"/>
          <p:cNvSpPr txBox="1"/>
          <p:nvPr/>
        </p:nvSpPr>
        <p:spPr>
          <a:xfrm>
            <a:off x="2551175" y="3986783"/>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60</a:t>
            </a:r>
          </a:p>
        </p:txBody>
      </p:sp>
      <p:sp>
        <p:nvSpPr>
          <p:cNvPr id="22" name="TextBox 21"/>
          <p:cNvSpPr txBox="1"/>
          <p:nvPr/>
        </p:nvSpPr>
        <p:spPr>
          <a:xfrm>
            <a:off x="896112" y="4297679"/>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Standing ×20</a:t>
            </a:r>
          </a:p>
        </p:txBody>
      </p:sp>
      <p:sp>
        <p:nvSpPr>
          <p:cNvPr id="23" name="TextBox 22"/>
          <p:cNvSpPr txBox="1"/>
          <p:nvPr/>
        </p:nvSpPr>
        <p:spPr>
          <a:xfrm>
            <a:off x="2551175" y="4297679"/>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15803D"/>
                </a:solidFill>
                <a:latin typeface="Segoe UI"/>
              </a:rPr>
              <a:t>80</a:t>
            </a:r>
          </a:p>
        </p:txBody>
      </p:sp>
      <p:sp>
        <p:nvSpPr>
          <p:cNvPr id="24" name="Rectangle 23"/>
          <p:cNvSpPr/>
          <p:nvPr/>
        </p:nvSpPr>
        <p:spPr>
          <a:xfrm>
            <a:off x="896112" y="4681728"/>
            <a:ext cx="2249424" cy="12801"/>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736592"/>
            <a:ext cx="2249424" cy="256032"/>
          </a:xfrm>
          <a:prstGeom prst="rect">
            <a:avLst/>
          </a:prstGeom>
          <a:noFill/>
        </p:spPr>
        <p:txBody>
          <a:bodyPr wrap="square" anchor="t" lIns="0" rIns="0" tIns="0" bIns="0">
            <a:spAutoFit/>
          </a:bodyPr>
          <a:lstStyle/>
          <a:p>
            <a:pPr algn="l">
              <a:lnSpc>
                <a:spcPct val="100000"/>
              </a:lnSpc>
              <a:spcBef>
                <a:spcPts val="0"/>
              </a:spcBef>
              <a:spcAft>
                <a:spcPts val="400"/>
              </a:spcAft>
            </a:pPr>
            <a:r>
              <a:rPr sz="850" b="0" i="1">
                <a:solidFill>
                  <a:srgbClr val="556377"/>
                </a:solidFill>
                <a:latin typeface="Segoe UI"/>
              </a:rPr>
              <a:t>0.5·94+0.3·60+0.2·80</a:t>
            </a:r>
          </a:p>
        </p:txBody>
      </p:sp>
      <p:sp>
        <p:nvSpPr>
          <p:cNvPr id="26" name="TextBox 25"/>
          <p:cNvSpPr txBox="1"/>
          <p:nvPr/>
        </p:nvSpPr>
        <p:spPr>
          <a:xfrm>
            <a:off x="896112" y="5010912"/>
            <a:ext cx="2249424" cy="384048"/>
          </a:xfrm>
          <a:prstGeom prst="rect">
            <a:avLst/>
          </a:prstGeom>
          <a:noFill/>
        </p:spPr>
        <p:txBody>
          <a:bodyPr wrap="square" anchor="t" lIns="0" rIns="0" tIns="0" bIns="0">
            <a:spAutoFit/>
          </a:bodyPr>
          <a:lstStyle/>
          <a:p>
            <a:pPr algn="l">
              <a:lnSpc>
                <a:spcPct val="100000"/>
              </a:lnSpc>
              <a:spcBef>
                <a:spcPts val="0"/>
              </a:spcBef>
              <a:spcAft>
                <a:spcPts val="400"/>
              </a:spcAft>
            </a:pPr>
            <a:r>
              <a:rPr sz="850" b="1" i="0">
                <a:solidFill>
                  <a:srgbClr val="94A3B8"/>
                </a:solidFill>
                <a:latin typeface="Segoe UI"/>
              </a:rPr>
              <a:t>Suitability  </a:t>
            </a:r>
            <a:r>
              <a:rPr sz="1700" b="1" i="0">
                <a:solidFill>
                  <a:srgbClr val="15803D"/>
                </a:solidFill>
                <a:latin typeface="Segoe UI"/>
              </a:rPr>
              <a:t>81</a:t>
            </a:r>
            <a:r>
              <a:rPr sz="850" b="0" i="0">
                <a:solidFill>
                  <a:srgbClr val="556377"/>
                </a:solidFill>
                <a:latin typeface="Segoe UI"/>
              </a:rPr>
              <a:t>/100</a:t>
            </a:r>
          </a:p>
        </p:txBody>
      </p:sp>
      <p:sp>
        <p:nvSpPr>
          <p:cNvPr id="27" name="Rounded Rectangle 26"/>
          <p:cNvSpPr/>
          <p:nvPr/>
        </p:nvSpPr>
        <p:spPr>
          <a:xfrm>
            <a:off x="3483863" y="2505456"/>
            <a:ext cx="2615184" cy="2999232"/>
          </a:xfrm>
          <a:prstGeom prst="roundRect">
            <a:avLst>
              <a:gd name="adj" fmla="val 5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648456" y="2651760"/>
            <a:ext cx="2286000" cy="365760"/>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48456" y="2651760"/>
            <a:ext cx="228600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IB</a:t>
            </a:r>
          </a:p>
        </p:txBody>
      </p:sp>
      <p:sp>
        <p:nvSpPr>
          <p:cNvPr id="30" name="TextBox 29"/>
          <p:cNvSpPr txBox="1"/>
          <p:nvPr/>
        </p:nvSpPr>
        <p:spPr>
          <a:xfrm>
            <a:off x="3666744" y="3090672"/>
            <a:ext cx="2286000" cy="530352"/>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56377"/>
                </a:solidFill>
                <a:latin typeface="Segoe UI"/>
              </a:rPr>
              <a:t>HL Maths 7, SL Comp Sci</a:t>
            </a:r>
          </a:p>
        </p:txBody>
      </p:sp>
      <p:sp>
        <p:nvSpPr>
          <p:cNvPr id="31" name="TextBox 30"/>
          <p:cNvSpPr txBox="1"/>
          <p:nvPr/>
        </p:nvSpPr>
        <p:spPr>
          <a:xfrm>
            <a:off x="3666744" y="3675887"/>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Discipline ×50</a:t>
            </a:r>
          </a:p>
        </p:txBody>
      </p:sp>
      <p:sp>
        <p:nvSpPr>
          <p:cNvPr id="32" name="TextBox 31"/>
          <p:cNvSpPr txBox="1"/>
          <p:nvPr/>
        </p:nvSpPr>
        <p:spPr>
          <a:xfrm>
            <a:off x="5321808" y="3675887"/>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88</a:t>
            </a:r>
          </a:p>
        </p:txBody>
      </p:sp>
      <p:sp>
        <p:nvSpPr>
          <p:cNvPr id="33" name="TextBox 32"/>
          <p:cNvSpPr txBox="1"/>
          <p:nvPr/>
        </p:nvSpPr>
        <p:spPr>
          <a:xfrm>
            <a:off x="3666744" y="3986783"/>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Skills ×30</a:t>
            </a:r>
          </a:p>
        </p:txBody>
      </p:sp>
      <p:sp>
        <p:nvSpPr>
          <p:cNvPr id="34" name="TextBox 33"/>
          <p:cNvSpPr txBox="1"/>
          <p:nvPr/>
        </p:nvSpPr>
        <p:spPr>
          <a:xfrm>
            <a:off x="5321808" y="3986783"/>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60</a:t>
            </a:r>
          </a:p>
        </p:txBody>
      </p:sp>
      <p:sp>
        <p:nvSpPr>
          <p:cNvPr id="35" name="TextBox 34"/>
          <p:cNvSpPr txBox="1"/>
          <p:nvPr/>
        </p:nvSpPr>
        <p:spPr>
          <a:xfrm>
            <a:off x="3666744" y="4297679"/>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Standing ×20</a:t>
            </a:r>
          </a:p>
        </p:txBody>
      </p:sp>
      <p:sp>
        <p:nvSpPr>
          <p:cNvPr id="36" name="TextBox 35"/>
          <p:cNvSpPr txBox="1"/>
          <p:nvPr/>
        </p:nvSpPr>
        <p:spPr>
          <a:xfrm>
            <a:off x="5321808" y="4297679"/>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15803D"/>
                </a:solidFill>
                <a:latin typeface="Segoe UI"/>
              </a:rPr>
              <a:t>80</a:t>
            </a:r>
          </a:p>
        </p:txBody>
      </p:sp>
      <p:sp>
        <p:nvSpPr>
          <p:cNvPr id="37" name="Rectangle 36"/>
          <p:cNvSpPr/>
          <p:nvPr/>
        </p:nvSpPr>
        <p:spPr>
          <a:xfrm>
            <a:off x="3666744" y="4681728"/>
            <a:ext cx="2249424" cy="12801"/>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66744" y="4736592"/>
            <a:ext cx="2249424" cy="256032"/>
          </a:xfrm>
          <a:prstGeom prst="rect">
            <a:avLst/>
          </a:prstGeom>
          <a:noFill/>
        </p:spPr>
        <p:txBody>
          <a:bodyPr wrap="square" anchor="t" lIns="0" rIns="0" tIns="0" bIns="0">
            <a:spAutoFit/>
          </a:bodyPr>
          <a:lstStyle/>
          <a:p>
            <a:pPr algn="l">
              <a:lnSpc>
                <a:spcPct val="100000"/>
              </a:lnSpc>
              <a:spcBef>
                <a:spcPts val="0"/>
              </a:spcBef>
              <a:spcAft>
                <a:spcPts val="400"/>
              </a:spcAft>
            </a:pPr>
            <a:r>
              <a:rPr sz="850" b="0" i="1">
                <a:solidFill>
                  <a:srgbClr val="556377"/>
                </a:solidFill>
                <a:latin typeface="Segoe UI"/>
              </a:rPr>
              <a:t>0.5·88+0.3·60+0.2·80</a:t>
            </a:r>
          </a:p>
        </p:txBody>
      </p:sp>
      <p:sp>
        <p:nvSpPr>
          <p:cNvPr id="39" name="TextBox 38"/>
          <p:cNvSpPr txBox="1"/>
          <p:nvPr/>
        </p:nvSpPr>
        <p:spPr>
          <a:xfrm>
            <a:off x="3666744" y="5010912"/>
            <a:ext cx="2249424" cy="384048"/>
          </a:xfrm>
          <a:prstGeom prst="rect">
            <a:avLst/>
          </a:prstGeom>
          <a:noFill/>
        </p:spPr>
        <p:txBody>
          <a:bodyPr wrap="square" anchor="t" lIns="0" rIns="0" tIns="0" bIns="0">
            <a:spAutoFit/>
          </a:bodyPr>
          <a:lstStyle/>
          <a:p>
            <a:pPr algn="l">
              <a:lnSpc>
                <a:spcPct val="100000"/>
              </a:lnSpc>
              <a:spcBef>
                <a:spcPts val="0"/>
              </a:spcBef>
              <a:spcAft>
                <a:spcPts val="400"/>
              </a:spcAft>
            </a:pPr>
            <a:r>
              <a:rPr sz="850" b="1" i="0">
                <a:solidFill>
                  <a:srgbClr val="94A3B8"/>
                </a:solidFill>
                <a:latin typeface="Segoe UI"/>
              </a:rPr>
              <a:t>Suitability  </a:t>
            </a:r>
            <a:r>
              <a:rPr sz="1700" b="1" i="0">
                <a:solidFill>
                  <a:srgbClr val="00328A"/>
                </a:solidFill>
                <a:latin typeface="Segoe UI"/>
              </a:rPr>
              <a:t>78</a:t>
            </a:r>
            <a:r>
              <a:rPr sz="850" b="0" i="0">
                <a:solidFill>
                  <a:srgbClr val="556377"/>
                </a:solidFill>
                <a:latin typeface="Segoe UI"/>
              </a:rPr>
              <a:t>/100</a:t>
            </a:r>
          </a:p>
        </p:txBody>
      </p:sp>
      <p:sp>
        <p:nvSpPr>
          <p:cNvPr id="40" name="Rounded Rectangle 39"/>
          <p:cNvSpPr/>
          <p:nvPr/>
        </p:nvSpPr>
        <p:spPr>
          <a:xfrm>
            <a:off x="6254496" y="2505456"/>
            <a:ext cx="2615184" cy="2999232"/>
          </a:xfrm>
          <a:prstGeom prst="roundRect">
            <a:avLst>
              <a:gd name="adj" fmla="val 5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419088" y="2651760"/>
            <a:ext cx="2286000" cy="365760"/>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19088" y="2651760"/>
            <a:ext cx="228600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Polytechnic</a:t>
            </a:r>
          </a:p>
        </p:txBody>
      </p:sp>
      <p:sp>
        <p:nvSpPr>
          <p:cNvPr id="43" name="TextBox 42"/>
          <p:cNvSpPr txBox="1"/>
          <p:nvPr/>
        </p:nvSpPr>
        <p:spPr>
          <a:xfrm>
            <a:off x="6437376" y="3090672"/>
            <a:ext cx="2286000" cy="530352"/>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56377"/>
                </a:solidFill>
                <a:latin typeface="Segoe UI"/>
              </a:rPr>
              <a:t>Dip. Info Tech — related field, strong skills</a:t>
            </a:r>
          </a:p>
        </p:txBody>
      </p:sp>
      <p:sp>
        <p:nvSpPr>
          <p:cNvPr id="44" name="TextBox 43"/>
          <p:cNvSpPr txBox="1"/>
          <p:nvPr/>
        </p:nvSpPr>
        <p:spPr>
          <a:xfrm>
            <a:off x="6437376" y="3675887"/>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Discipline ×50</a:t>
            </a:r>
          </a:p>
        </p:txBody>
      </p:sp>
      <p:sp>
        <p:nvSpPr>
          <p:cNvPr id="45" name="TextBox 44"/>
          <p:cNvSpPr txBox="1"/>
          <p:nvPr/>
        </p:nvSpPr>
        <p:spPr>
          <a:xfrm>
            <a:off x="8092440" y="3675887"/>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82</a:t>
            </a:r>
          </a:p>
        </p:txBody>
      </p:sp>
      <p:sp>
        <p:nvSpPr>
          <p:cNvPr id="46" name="TextBox 45"/>
          <p:cNvSpPr txBox="1"/>
          <p:nvPr/>
        </p:nvSpPr>
        <p:spPr>
          <a:xfrm>
            <a:off x="6437376" y="3986783"/>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Skills ×30</a:t>
            </a:r>
          </a:p>
        </p:txBody>
      </p:sp>
      <p:sp>
        <p:nvSpPr>
          <p:cNvPr id="47" name="TextBox 46"/>
          <p:cNvSpPr txBox="1"/>
          <p:nvPr/>
        </p:nvSpPr>
        <p:spPr>
          <a:xfrm>
            <a:off x="8092440" y="3986783"/>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70</a:t>
            </a:r>
          </a:p>
        </p:txBody>
      </p:sp>
      <p:sp>
        <p:nvSpPr>
          <p:cNvPr id="48" name="TextBox 47"/>
          <p:cNvSpPr txBox="1"/>
          <p:nvPr/>
        </p:nvSpPr>
        <p:spPr>
          <a:xfrm>
            <a:off x="6437376" y="4297679"/>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Standing ×20</a:t>
            </a:r>
          </a:p>
        </p:txBody>
      </p:sp>
      <p:sp>
        <p:nvSpPr>
          <p:cNvPr id="49" name="TextBox 48"/>
          <p:cNvSpPr txBox="1"/>
          <p:nvPr/>
        </p:nvSpPr>
        <p:spPr>
          <a:xfrm>
            <a:off x="8092440" y="4297679"/>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15803D"/>
                </a:solidFill>
                <a:latin typeface="Segoe UI"/>
              </a:rPr>
              <a:t>80</a:t>
            </a:r>
          </a:p>
        </p:txBody>
      </p:sp>
      <p:sp>
        <p:nvSpPr>
          <p:cNvPr id="50" name="Rectangle 49"/>
          <p:cNvSpPr/>
          <p:nvPr/>
        </p:nvSpPr>
        <p:spPr>
          <a:xfrm>
            <a:off x="6437376" y="4681728"/>
            <a:ext cx="2249424" cy="12801"/>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37376" y="4736592"/>
            <a:ext cx="2249424" cy="256032"/>
          </a:xfrm>
          <a:prstGeom prst="rect">
            <a:avLst/>
          </a:prstGeom>
          <a:noFill/>
        </p:spPr>
        <p:txBody>
          <a:bodyPr wrap="square" anchor="t" lIns="0" rIns="0" tIns="0" bIns="0">
            <a:spAutoFit/>
          </a:bodyPr>
          <a:lstStyle/>
          <a:p>
            <a:pPr algn="l">
              <a:lnSpc>
                <a:spcPct val="100000"/>
              </a:lnSpc>
              <a:spcBef>
                <a:spcPts val="0"/>
              </a:spcBef>
              <a:spcAft>
                <a:spcPts val="400"/>
              </a:spcAft>
            </a:pPr>
            <a:r>
              <a:rPr sz="850" b="0" i="1">
                <a:solidFill>
                  <a:srgbClr val="556377"/>
                </a:solidFill>
                <a:latin typeface="Segoe UI"/>
              </a:rPr>
              <a:t>0.5·82+0.3·70+0.2·80</a:t>
            </a:r>
          </a:p>
        </p:txBody>
      </p:sp>
      <p:sp>
        <p:nvSpPr>
          <p:cNvPr id="52" name="TextBox 51"/>
          <p:cNvSpPr txBox="1"/>
          <p:nvPr/>
        </p:nvSpPr>
        <p:spPr>
          <a:xfrm>
            <a:off x="6437376" y="5010912"/>
            <a:ext cx="2249424" cy="384048"/>
          </a:xfrm>
          <a:prstGeom prst="rect">
            <a:avLst/>
          </a:prstGeom>
          <a:noFill/>
        </p:spPr>
        <p:txBody>
          <a:bodyPr wrap="square" anchor="t" lIns="0" rIns="0" tIns="0" bIns="0">
            <a:spAutoFit/>
          </a:bodyPr>
          <a:lstStyle/>
          <a:p>
            <a:pPr algn="l">
              <a:lnSpc>
                <a:spcPct val="100000"/>
              </a:lnSpc>
              <a:spcBef>
                <a:spcPts val="0"/>
              </a:spcBef>
              <a:spcAft>
                <a:spcPts val="400"/>
              </a:spcAft>
            </a:pPr>
            <a:r>
              <a:rPr sz="850" b="1" i="0">
                <a:solidFill>
                  <a:srgbClr val="94A3B8"/>
                </a:solidFill>
                <a:latin typeface="Segoe UI"/>
              </a:rPr>
              <a:t>Suitability  </a:t>
            </a:r>
            <a:r>
              <a:rPr sz="1700" b="1" i="0">
                <a:solidFill>
                  <a:srgbClr val="0E7490"/>
                </a:solidFill>
                <a:latin typeface="Segoe UI"/>
              </a:rPr>
              <a:t>78</a:t>
            </a:r>
            <a:r>
              <a:rPr sz="850" b="0" i="0">
                <a:solidFill>
                  <a:srgbClr val="556377"/>
                </a:solidFill>
                <a:latin typeface="Segoe UI"/>
              </a:rPr>
              <a:t>/100</a:t>
            </a:r>
          </a:p>
        </p:txBody>
      </p:sp>
      <p:sp>
        <p:nvSpPr>
          <p:cNvPr id="53" name="Rounded Rectangle 52"/>
          <p:cNvSpPr/>
          <p:nvPr/>
        </p:nvSpPr>
        <p:spPr>
          <a:xfrm>
            <a:off x="9025128" y="2505456"/>
            <a:ext cx="2615184" cy="2999232"/>
          </a:xfrm>
          <a:prstGeom prst="roundRect">
            <a:avLst>
              <a:gd name="adj" fmla="val 5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189719" y="2651760"/>
            <a:ext cx="2286000" cy="36576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89719" y="2651760"/>
            <a:ext cx="228600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FFFFFF"/>
                </a:solidFill>
                <a:latin typeface="Segoe UI"/>
              </a:rPr>
              <a:t>NUS High</a:t>
            </a:r>
          </a:p>
        </p:txBody>
      </p:sp>
      <p:sp>
        <p:nvSpPr>
          <p:cNvPr id="56" name="TextBox 55"/>
          <p:cNvSpPr txBox="1"/>
          <p:nvPr/>
        </p:nvSpPr>
        <p:spPr>
          <a:xfrm>
            <a:off x="9208007" y="3090672"/>
            <a:ext cx="2286000" cy="530352"/>
          </a:xfrm>
          <a:prstGeom prst="rect">
            <a:avLst/>
          </a:prstGeom>
          <a:noFill/>
        </p:spPr>
        <p:txBody>
          <a:bodyPr wrap="square" anchor="t" lIns="0" rIns="0" tIns="0" bIns="0">
            <a:spAutoFit/>
          </a:bodyPr>
          <a:lstStyle/>
          <a:p>
            <a:pPr algn="l">
              <a:lnSpc>
                <a:spcPct val="105000"/>
              </a:lnSpc>
              <a:spcBef>
                <a:spcPts val="0"/>
              </a:spcBef>
              <a:spcAft>
                <a:spcPts val="400"/>
              </a:spcAft>
            </a:pPr>
            <a:r>
              <a:rPr sz="950" b="0" i="0">
                <a:solidFill>
                  <a:srgbClr val="556377"/>
                </a:solidFill>
                <a:latin typeface="Segoe UI"/>
              </a:rPr>
              <a:t>Major Maths &amp; Computing</a:t>
            </a:r>
          </a:p>
        </p:txBody>
      </p:sp>
      <p:sp>
        <p:nvSpPr>
          <p:cNvPr id="57" name="TextBox 56"/>
          <p:cNvSpPr txBox="1"/>
          <p:nvPr/>
        </p:nvSpPr>
        <p:spPr>
          <a:xfrm>
            <a:off x="9208007" y="3675887"/>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Discipline ×50</a:t>
            </a:r>
          </a:p>
        </p:txBody>
      </p:sp>
      <p:sp>
        <p:nvSpPr>
          <p:cNvPr id="58" name="TextBox 57"/>
          <p:cNvSpPr txBox="1"/>
          <p:nvPr/>
        </p:nvSpPr>
        <p:spPr>
          <a:xfrm>
            <a:off x="10863072" y="3675887"/>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92</a:t>
            </a:r>
          </a:p>
        </p:txBody>
      </p:sp>
      <p:sp>
        <p:nvSpPr>
          <p:cNvPr id="59" name="TextBox 58"/>
          <p:cNvSpPr txBox="1"/>
          <p:nvPr/>
        </p:nvSpPr>
        <p:spPr>
          <a:xfrm>
            <a:off x="9208007" y="3986783"/>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Skills ×30</a:t>
            </a:r>
          </a:p>
        </p:txBody>
      </p:sp>
      <p:sp>
        <p:nvSpPr>
          <p:cNvPr id="60" name="TextBox 59"/>
          <p:cNvSpPr txBox="1"/>
          <p:nvPr/>
        </p:nvSpPr>
        <p:spPr>
          <a:xfrm>
            <a:off x="10863072" y="3986783"/>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00328A"/>
                </a:solidFill>
                <a:latin typeface="Segoe UI"/>
              </a:rPr>
              <a:t>60</a:t>
            </a:r>
          </a:p>
        </p:txBody>
      </p:sp>
      <p:sp>
        <p:nvSpPr>
          <p:cNvPr id="61" name="TextBox 60"/>
          <p:cNvSpPr txBox="1"/>
          <p:nvPr/>
        </p:nvSpPr>
        <p:spPr>
          <a:xfrm>
            <a:off x="9208007" y="4297679"/>
            <a:ext cx="1691640"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i="0">
                <a:solidFill>
                  <a:srgbClr val="0F172A"/>
                </a:solidFill>
                <a:latin typeface="Segoe UI"/>
              </a:rPr>
              <a:t>Standing ×20</a:t>
            </a:r>
          </a:p>
        </p:txBody>
      </p:sp>
      <p:sp>
        <p:nvSpPr>
          <p:cNvPr id="62" name="TextBox 61"/>
          <p:cNvSpPr txBox="1"/>
          <p:nvPr/>
        </p:nvSpPr>
        <p:spPr>
          <a:xfrm>
            <a:off x="10863072" y="4297679"/>
            <a:ext cx="594360" cy="274320"/>
          </a:xfrm>
          <a:prstGeom prst="rect">
            <a:avLst/>
          </a:prstGeom>
          <a:noFill/>
        </p:spPr>
        <p:txBody>
          <a:bodyPr wrap="square" anchor="t" lIns="0" rIns="0" tIns="0" bIns="0">
            <a:spAutoFit/>
          </a:bodyPr>
          <a:lstStyle/>
          <a:p>
            <a:pPr algn="r">
              <a:lnSpc>
                <a:spcPct val="100000"/>
              </a:lnSpc>
              <a:spcBef>
                <a:spcPts val="0"/>
              </a:spcBef>
              <a:spcAft>
                <a:spcPts val="400"/>
              </a:spcAft>
            </a:pPr>
            <a:r>
              <a:rPr sz="1100" b="1" i="0">
                <a:solidFill>
                  <a:srgbClr val="15803D"/>
                </a:solidFill>
                <a:latin typeface="Segoe UI"/>
              </a:rPr>
              <a:t>80</a:t>
            </a:r>
          </a:p>
        </p:txBody>
      </p:sp>
      <p:sp>
        <p:nvSpPr>
          <p:cNvPr id="63" name="Rectangle 62"/>
          <p:cNvSpPr/>
          <p:nvPr/>
        </p:nvSpPr>
        <p:spPr>
          <a:xfrm>
            <a:off x="9208007" y="4681728"/>
            <a:ext cx="2249424" cy="12801"/>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208007" y="4736592"/>
            <a:ext cx="2249424" cy="256032"/>
          </a:xfrm>
          <a:prstGeom prst="rect">
            <a:avLst/>
          </a:prstGeom>
          <a:noFill/>
        </p:spPr>
        <p:txBody>
          <a:bodyPr wrap="square" anchor="t" lIns="0" rIns="0" tIns="0" bIns="0">
            <a:spAutoFit/>
          </a:bodyPr>
          <a:lstStyle/>
          <a:p>
            <a:pPr algn="l">
              <a:lnSpc>
                <a:spcPct val="100000"/>
              </a:lnSpc>
              <a:spcBef>
                <a:spcPts val="0"/>
              </a:spcBef>
              <a:spcAft>
                <a:spcPts val="400"/>
              </a:spcAft>
            </a:pPr>
            <a:r>
              <a:rPr sz="850" b="0" i="1">
                <a:solidFill>
                  <a:srgbClr val="556377"/>
                </a:solidFill>
                <a:latin typeface="Segoe UI"/>
              </a:rPr>
              <a:t>0.5·92+0.3·60+0.2·80</a:t>
            </a:r>
          </a:p>
        </p:txBody>
      </p:sp>
      <p:sp>
        <p:nvSpPr>
          <p:cNvPr id="65" name="TextBox 64"/>
          <p:cNvSpPr txBox="1"/>
          <p:nvPr/>
        </p:nvSpPr>
        <p:spPr>
          <a:xfrm>
            <a:off x="9208007" y="5010912"/>
            <a:ext cx="2249424" cy="384048"/>
          </a:xfrm>
          <a:prstGeom prst="rect">
            <a:avLst/>
          </a:prstGeom>
          <a:noFill/>
        </p:spPr>
        <p:txBody>
          <a:bodyPr wrap="square" anchor="t" lIns="0" rIns="0" tIns="0" bIns="0">
            <a:spAutoFit/>
          </a:bodyPr>
          <a:lstStyle/>
          <a:p>
            <a:pPr algn="l">
              <a:lnSpc>
                <a:spcPct val="100000"/>
              </a:lnSpc>
              <a:spcBef>
                <a:spcPts val="0"/>
              </a:spcBef>
              <a:spcAft>
                <a:spcPts val="400"/>
              </a:spcAft>
            </a:pPr>
            <a:r>
              <a:rPr sz="850" b="1" i="0">
                <a:solidFill>
                  <a:srgbClr val="94A3B8"/>
                </a:solidFill>
                <a:latin typeface="Segoe UI"/>
              </a:rPr>
              <a:t>Suitability  </a:t>
            </a:r>
            <a:r>
              <a:rPr sz="1700" b="1" i="0">
                <a:solidFill>
                  <a:srgbClr val="6D28D9"/>
                </a:solidFill>
                <a:latin typeface="Segoe UI"/>
              </a:rPr>
              <a:t>80</a:t>
            </a:r>
            <a:r>
              <a:rPr sz="850" b="0" i="0">
                <a:solidFill>
                  <a:srgbClr val="556377"/>
                </a:solidFill>
                <a:latin typeface="Segoe UI"/>
              </a:rPr>
              <a:t>/100</a:t>
            </a:r>
          </a:p>
        </p:txBody>
      </p:sp>
      <p:sp>
        <p:nvSpPr>
          <p:cNvPr id="66" name="Rounded Rectangle 65"/>
          <p:cNvSpPr/>
          <p:nvPr/>
        </p:nvSpPr>
        <p:spPr>
          <a:xfrm>
            <a:off x="713232" y="5596128"/>
            <a:ext cx="10771632" cy="658368"/>
          </a:xfrm>
          <a:prstGeom prst="roundRect">
            <a:avLst>
              <a:gd name="adj" fmla="val 6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0120" y="5650992"/>
            <a:ext cx="10332720" cy="548640"/>
          </a:xfrm>
          <a:prstGeom prst="rect">
            <a:avLst/>
          </a:prstGeom>
          <a:noFill/>
        </p:spPr>
        <p:txBody>
          <a:bodyPr wrap="square" anchor="t" lIns="0" rIns="0" tIns="0" bIns="0">
            <a:spAutoFit/>
          </a:bodyPr>
          <a:lstStyle/>
          <a:p>
            <a:pPr algn="l">
              <a:lnSpc>
                <a:spcPct val="110000"/>
              </a:lnSpc>
              <a:spcBef>
                <a:spcPts val="0"/>
              </a:spcBef>
              <a:spcAft>
                <a:spcPts val="300"/>
              </a:spcAft>
            </a:pPr>
            <a:r>
              <a:rPr sz="1150" b="1" i="0">
                <a:solidFill>
                  <a:srgbClr val="FFFFFF"/>
                </a:solidFill>
                <a:latin typeface="Segoe UI"/>
              </a:rPr>
              <a:t>Four school systems land in a tight 78–81 band — judged on the same factors, not on their certificate.</a:t>
            </a:r>
          </a:p>
          <a:p>
            <a:pPr algn="l">
              <a:lnSpc>
                <a:spcPct val="110000"/>
              </a:lnSpc>
              <a:spcBef>
                <a:spcPts val="0"/>
              </a:spcBef>
              <a:spcAft>
                <a:spcPts val="300"/>
              </a:spcAft>
            </a:pPr>
            <a:r>
              <a:rPr sz="1000" b="0" i="0">
                <a:solidFill>
                  <a:srgbClr val="BDD0F2"/>
                </a:solidFill>
                <a:latin typeface="Segoe UI"/>
              </a:rPr>
              <a:t>Grades normalised within each system · thinner data → lower confidence, never lower score · ties broken by project preference.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BEFORE WE BUILD</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Challenges, assumptions &amp; things to consider</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06 / 09</a:t>
            </a:r>
          </a:p>
        </p:txBody>
      </p:sp>
      <p:sp>
        <p:nvSpPr>
          <p:cNvPr id="10" name="Rounded Rectangle 9"/>
          <p:cNvSpPr/>
          <p:nvPr/>
        </p:nvSpPr>
        <p:spPr>
          <a:xfrm>
            <a:off x="713232" y="1554480"/>
            <a:ext cx="3493008" cy="4526280"/>
          </a:xfrm>
          <a:prstGeom prst="roundRect">
            <a:avLst>
              <a:gd name="adj" fmla="val 4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554480"/>
            <a:ext cx="3493008" cy="457200"/>
          </a:xfrm>
          <a:prstGeom prst="roundRect">
            <a:avLst>
              <a:gd name="adj" fmla="val 50000"/>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554480"/>
            <a:ext cx="349300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Segoe UI"/>
              </a:rPr>
              <a:t>ASSUMPTIONS</a:t>
            </a:r>
          </a:p>
        </p:txBody>
      </p:sp>
      <p:sp>
        <p:nvSpPr>
          <p:cNvPr id="13" name="Oval 12"/>
          <p:cNvSpPr/>
          <p:nvPr/>
        </p:nvSpPr>
        <p:spPr>
          <a:xfrm>
            <a:off x="950976" y="2276856"/>
            <a:ext cx="91440" cy="91440"/>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0432" y="2194560"/>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Projects are tagged with a discipline (and ideally skills) by the PC / mentor</a:t>
            </a:r>
          </a:p>
        </p:txBody>
      </p:sp>
      <p:sp>
        <p:nvSpPr>
          <p:cNvPr id="15" name="Oval 14"/>
          <p:cNvSpPr/>
          <p:nvPr/>
        </p:nvSpPr>
        <p:spPr>
          <a:xfrm>
            <a:off x="950976" y="3063239"/>
            <a:ext cx="91440" cy="91440"/>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70432" y="2980944"/>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Applicant data is structured — subjects, discipline, grades captured in the form, not free text</a:t>
            </a:r>
          </a:p>
        </p:txBody>
      </p:sp>
      <p:sp>
        <p:nvSpPr>
          <p:cNvPr id="17" name="Oval 16"/>
          <p:cNvSpPr/>
          <p:nvPr/>
        </p:nvSpPr>
        <p:spPr>
          <a:xfrm>
            <a:off x="950976" y="3849624"/>
            <a:ext cx="91440" cy="91440"/>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0432" y="3767328"/>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Each programme mostly draws one or two backgrounds; mixed pools are the exception</a:t>
            </a:r>
          </a:p>
        </p:txBody>
      </p:sp>
      <p:sp>
        <p:nvSpPr>
          <p:cNvPr id="19" name="Oval 18"/>
          <p:cNvSpPr/>
          <p:nvPr/>
        </p:nvSpPr>
        <p:spPr>
          <a:xfrm>
            <a:off x="950976" y="4636008"/>
            <a:ext cx="91440" cy="91440"/>
          </a:xfrm>
          <a:prstGeom prst="ellipse">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0432" y="4553712"/>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50/30/20 weights are sensible defaults, agreed with DSTA</a:t>
            </a:r>
          </a:p>
        </p:txBody>
      </p:sp>
      <p:sp>
        <p:nvSpPr>
          <p:cNvPr id="21" name="Rounded Rectangle 20"/>
          <p:cNvSpPr/>
          <p:nvPr/>
        </p:nvSpPr>
        <p:spPr>
          <a:xfrm>
            <a:off x="4352544" y="1554480"/>
            <a:ext cx="3493008" cy="4526280"/>
          </a:xfrm>
          <a:prstGeom prst="roundRect">
            <a:avLst>
              <a:gd name="adj" fmla="val 4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52544" y="1554480"/>
            <a:ext cx="3493008" cy="457200"/>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52544" y="1554480"/>
            <a:ext cx="349300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Segoe UI"/>
              </a:rPr>
              <a:t>CHALLENGES / RISKS</a:t>
            </a:r>
          </a:p>
        </p:txBody>
      </p:sp>
      <p:sp>
        <p:nvSpPr>
          <p:cNvPr id="24" name="Oval 23"/>
          <p:cNvSpPr/>
          <p:nvPr/>
        </p:nvSpPr>
        <p:spPr>
          <a:xfrm>
            <a:off x="4590288" y="2276856"/>
            <a:ext cx="91440" cy="914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9744" y="2194560"/>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Maintaining the subject↔discipline dictionary and grade bands per system</a:t>
            </a:r>
          </a:p>
        </p:txBody>
      </p:sp>
      <p:sp>
        <p:nvSpPr>
          <p:cNvPr id="26" name="Oval 25"/>
          <p:cNvSpPr/>
          <p:nvPr/>
        </p:nvSpPr>
        <p:spPr>
          <a:xfrm>
            <a:off x="4590288" y="3063239"/>
            <a:ext cx="91440" cy="914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9744" y="2980944"/>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Free-text disciplines/skills won't match — needs controlled dropdowns</a:t>
            </a:r>
          </a:p>
        </p:txBody>
      </p:sp>
      <p:sp>
        <p:nvSpPr>
          <p:cNvPr id="28" name="Oval 27"/>
          <p:cNvSpPr/>
          <p:nvPr/>
        </p:nvSpPr>
        <p:spPr>
          <a:xfrm>
            <a:off x="4590288" y="3849624"/>
            <a:ext cx="91440" cy="914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9744" y="3767328"/>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Grade comparability across systems (A vs IB 7 vs GPA) — normalise within track</a:t>
            </a:r>
          </a:p>
        </p:txBody>
      </p:sp>
      <p:sp>
        <p:nvSpPr>
          <p:cNvPr id="30" name="Oval 29"/>
          <p:cNvSpPr/>
          <p:nvPr/>
        </p:nvSpPr>
        <p:spPr>
          <a:xfrm>
            <a:off x="4590288" y="4636008"/>
            <a:ext cx="91440" cy="914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09744" y="4553712"/>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Thin data for some groups (e.g. secondary) → lower confidence</a:t>
            </a:r>
          </a:p>
        </p:txBody>
      </p:sp>
      <p:sp>
        <p:nvSpPr>
          <p:cNvPr id="32" name="Oval 31"/>
          <p:cNvSpPr/>
          <p:nvPr/>
        </p:nvSpPr>
        <p:spPr>
          <a:xfrm>
            <a:off x="4590288" y="5422392"/>
            <a:ext cx="91440" cy="914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9744" y="5340096"/>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Automation bias — officers must stay in the loop</a:t>
            </a:r>
          </a:p>
        </p:txBody>
      </p:sp>
      <p:sp>
        <p:nvSpPr>
          <p:cNvPr id="34" name="Rounded Rectangle 33"/>
          <p:cNvSpPr/>
          <p:nvPr/>
        </p:nvSpPr>
        <p:spPr>
          <a:xfrm>
            <a:off x="7991856" y="1554480"/>
            <a:ext cx="3493008" cy="4526280"/>
          </a:xfrm>
          <a:prstGeom prst="roundRect">
            <a:avLst>
              <a:gd name="adj" fmla="val 4000"/>
            </a:avLst>
          </a:prstGeom>
          <a:solidFill>
            <a:srgbClr val="FFFFFF"/>
          </a:solidFill>
          <a:ln w="12700">
            <a:solidFill>
              <a:srgbClr val="D7DFEA"/>
            </a:solidFill>
          </a:ln>
          <a:effectLst/>
          <a:effectLst>
            <a:outerShdw blurRad="90000" dist="38100" dir="5400000" rotWithShape="0">
              <a:srgbClr val="0F172A">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991856" y="1554480"/>
            <a:ext cx="3493008" cy="45720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91856" y="1554480"/>
            <a:ext cx="3493008"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150" b="1" i="0">
                <a:solidFill>
                  <a:srgbClr val="FFFFFF"/>
                </a:solidFill>
                <a:latin typeface="Segoe UI"/>
              </a:rPr>
              <a:t>THINGS TO CONSIDER</a:t>
            </a:r>
          </a:p>
        </p:txBody>
      </p:sp>
      <p:sp>
        <p:nvSpPr>
          <p:cNvPr id="37" name="Oval 36"/>
          <p:cNvSpPr/>
          <p:nvPr/>
        </p:nvSpPr>
        <p:spPr>
          <a:xfrm>
            <a:off x="8229600" y="2276856"/>
            <a:ext cx="91440" cy="9144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49056" y="2194560"/>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Keep humans deciding interviews; the engine ranks + explains only</a:t>
            </a:r>
          </a:p>
        </p:txBody>
      </p:sp>
      <p:sp>
        <p:nvSpPr>
          <p:cNvPr id="39" name="Oval 38"/>
          <p:cNvSpPr/>
          <p:nvPr/>
        </p:nvSpPr>
        <p:spPr>
          <a:xfrm>
            <a:off x="8229600" y="3063239"/>
            <a:ext cx="91440" cy="9144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49056" y="2980944"/>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Show confidence, not just score; never auto-reject beyond eligibility</a:t>
            </a:r>
          </a:p>
        </p:txBody>
      </p:sp>
      <p:sp>
        <p:nvSpPr>
          <p:cNvPr id="41" name="Oval 40"/>
          <p:cNvSpPr/>
          <p:nvPr/>
        </p:nvSpPr>
        <p:spPr>
          <a:xfrm>
            <a:off x="8229600" y="3849624"/>
            <a:ext cx="91440" cy="9144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49056" y="3767328"/>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Make weights &amp; dictionary admin-configurable and versioned for audit</a:t>
            </a:r>
          </a:p>
        </p:txBody>
      </p:sp>
      <p:sp>
        <p:nvSpPr>
          <p:cNvPr id="43" name="Oval 42"/>
          <p:cNvSpPr/>
          <p:nvPr/>
        </p:nvSpPr>
        <p:spPr>
          <a:xfrm>
            <a:off x="8229600" y="4636008"/>
            <a:ext cx="91440" cy="9144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49056" y="4553712"/>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Pilot on the Post-JC / Post-Poly group first (the hardest case)</a:t>
            </a:r>
          </a:p>
        </p:txBody>
      </p:sp>
      <p:sp>
        <p:nvSpPr>
          <p:cNvPr id="45" name="Oval 44"/>
          <p:cNvSpPr/>
          <p:nvPr/>
        </p:nvSpPr>
        <p:spPr>
          <a:xfrm>
            <a:off x="8229600" y="5422392"/>
            <a:ext cx="91440" cy="91440"/>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49056" y="5340096"/>
            <a:ext cx="2834639" cy="731520"/>
          </a:xfrm>
          <a:prstGeom prst="rect">
            <a:avLst/>
          </a:prstGeom>
          <a:noFill/>
        </p:spPr>
        <p:txBody>
          <a:bodyPr wrap="square" anchor="t" lIns="0" rIns="0" tIns="0" bIns="0">
            <a:spAutoFit/>
          </a:bodyPr>
          <a:lstStyle/>
          <a:p>
            <a:pPr algn="l">
              <a:lnSpc>
                <a:spcPct val="106000"/>
              </a:lnSpc>
              <a:spcBef>
                <a:spcPts val="0"/>
              </a:spcBef>
              <a:spcAft>
                <a:spcPts val="400"/>
              </a:spcAft>
            </a:pPr>
            <a:r>
              <a:rPr sz="1050" b="0" i="0">
                <a:solidFill>
                  <a:srgbClr val="0F172A"/>
                </a:solidFill>
                <a:latin typeface="Segoe UI"/>
              </a:rPr>
              <a:t>Decide: does Interest carry a weight? final Standing weight?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FREQUENTLY ASKED · SCORING</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FAQ — how the scoring works</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07 / 09</a:t>
            </a:r>
          </a:p>
        </p:txBody>
      </p:sp>
      <p:sp>
        <p:nvSpPr>
          <p:cNvPr id="10" name="Rounded Rectangle 9"/>
          <p:cNvSpPr/>
          <p:nvPr/>
        </p:nvSpPr>
        <p:spPr>
          <a:xfrm>
            <a:off x="713232" y="1481328"/>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How is the Discipline sub-score calculated?</a:t>
            </a:r>
          </a:p>
        </p:txBody>
      </p:sp>
      <p:sp>
        <p:nvSpPr>
          <p:cNvPr id="12" name="TextBox 11"/>
          <p:cNvSpPr txBox="1"/>
          <p:nvPr/>
        </p:nvSpPr>
        <p:spPr>
          <a:xfrm>
            <a:off x="960120" y="1883664"/>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The project's discipline is expanded via the dictionary into relevant subjects (CS → Maths, Computing, Physics). Subject-based applicants are scored on coverage, weighted by level (H2/HL full, H1/SL ~60%). A formal discipline scores exact = 100, related ~80.</a:t>
            </a:r>
          </a:p>
        </p:txBody>
      </p:sp>
      <p:sp>
        <p:nvSpPr>
          <p:cNvPr id="13" name="Rounded Rectangle 12"/>
          <p:cNvSpPr/>
          <p:nvPr/>
        </p:nvSpPr>
        <p:spPr>
          <a:xfrm>
            <a:off x="713232" y="2450592"/>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542032"/>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How is the Skills sub-score calculated?</a:t>
            </a:r>
          </a:p>
        </p:txBody>
      </p:sp>
      <p:sp>
        <p:nvSpPr>
          <p:cNvPr id="15" name="TextBox 14"/>
          <p:cNvSpPr txBox="1"/>
          <p:nvPr/>
        </p:nvSpPr>
        <p:spPr>
          <a:xfrm>
            <a:off x="960120" y="2852928"/>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Share of the project's required skills the applicant demonstrably has:  15 + (matched ÷ required) × 85.  A 15 floor and 100 ceiling; required skills count more than preferred.</a:t>
            </a:r>
          </a:p>
        </p:txBody>
      </p:sp>
      <p:sp>
        <p:nvSpPr>
          <p:cNvPr id="16" name="Rounded Rectangle 15"/>
          <p:cNvSpPr/>
          <p:nvPr/>
        </p:nvSpPr>
        <p:spPr>
          <a:xfrm>
            <a:off x="713232" y="3419856"/>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511296"/>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Can we change the weights?</a:t>
            </a:r>
          </a:p>
        </p:txBody>
      </p:sp>
      <p:sp>
        <p:nvSpPr>
          <p:cNvPr id="18" name="TextBox 17"/>
          <p:cNvSpPr txBox="1"/>
          <p:nvPr/>
        </p:nvSpPr>
        <p:spPr>
          <a:xfrm>
            <a:off x="960120" y="3822192"/>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Yes — Discipline / Skills / Standing are set per programme by DSTA admins and versioned. Set Standing to 0 to ignore grades; raise Skills for skills-led projects.</a:t>
            </a:r>
          </a:p>
        </p:txBody>
      </p:sp>
      <p:sp>
        <p:nvSpPr>
          <p:cNvPr id="19" name="Rounded Rectangle 18"/>
          <p:cNvSpPr/>
          <p:nvPr/>
        </p:nvSpPr>
        <p:spPr>
          <a:xfrm>
            <a:off x="713232" y="4389120"/>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480560"/>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How are ties broken?</a:t>
            </a:r>
          </a:p>
        </p:txBody>
      </p:sp>
      <p:sp>
        <p:nvSpPr>
          <p:cNvPr id="21" name="TextBox 20"/>
          <p:cNvSpPr txBox="1"/>
          <p:nvPr/>
        </p:nvSpPr>
        <p:spPr>
          <a:xfrm>
            <a:off x="960120" y="4791456"/>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By the applicant's own project preference (their #1 choice first). If still tied, the officer decides. Preference is never inside the score.</a:t>
            </a:r>
          </a:p>
        </p:txBody>
      </p:sp>
      <p:sp>
        <p:nvSpPr>
          <p:cNvPr id="22" name="Rounded Rectangle 21"/>
          <p:cNvSpPr/>
          <p:nvPr/>
        </p:nvSpPr>
        <p:spPr>
          <a:xfrm>
            <a:off x="713232" y="5358384"/>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449824"/>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Are the numbers in the examples exact?</a:t>
            </a:r>
          </a:p>
        </p:txBody>
      </p:sp>
      <p:sp>
        <p:nvSpPr>
          <p:cNvPr id="24" name="TextBox 23"/>
          <p:cNvSpPr txBox="1"/>
          <p:nvPr/>
        </p:nvSpPr>
        <p:spPr>
          <a:xfrm>
            <a:off x="960120" y="5760720"/>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They are illustrative. In production every sub-score is computed from the applicant's declared data + the dictionary, and shown to the user in full.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FREQUENTLY ASKED · FAIRNESS &amp; DATA</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FAQ — fairness, data &amp; operating</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08 / 09</a:t>
            </a:r>
          </a:p>
        </p:txBody>
      </p:sp>
      <p:sp>
        <p:nvSpPr>
          <p:cNvPr id="10" name="Rounded Rectangle 9"/>
          <p:cNvSpPr/>
          <p:nvPr/>
        </p:nvSpPr>
        <p:spPr>
          <a:xfrm>
            <a:off x="713232" y="1481328"/>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Is it fair across different school systems?</a:t>
            </a:r>
          </a:p>
        </p:txBody>
      </p:sp>
      <p:sp>
        <p:nvSpPr>
          <p:cNvPr id="12" name="TextBox 11"/>
          <p:cNvSpPr txBox="1"/>
          <p:nvPr/>
        </p:nvSpPr>
        <p:spPr>
          <a:xfrm>
            <a:off x="960120" y="1883664"/>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Applicants are compared only within a project's pool; grades are normalised within each system (an A, an IB 7, a poly GPA are never compared raw); a factor a group can't have is dropped and weights renormalise to 100.</a:t>
            </a:r>
          </a:p>
        </p:txBody>
      </p:sp>
      <p:sp>
        <p:nvSpPr>
          <p:cNvPr id="13" name="Rounded Rectangle 12"/>
          <p:cNvSpPr/>
          <p:nvPr/>
        </p:nvSpPr>
        <p:spPr>
          <a:xfrm>
            <a:off x="713232" y="2450592"/>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542032"/>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What if data is missing, or a discipline isn't in the dictionary?</a:t>
            </a:r>
          </a:p>
        </p:txBody>
      </p:sp>
      <p:sp>
        <p:nvSpPr>
          <p:cNvPr id="15" name="TextBox 14"/>
          <p:cNvSpPr txBox="1"/>
          <p:nvPr/>
        </p:nvSpPr>
        <p:spPr>
          <a:xfrm>
            <a:off x="960120" y="2852928"/>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Missing optional data lowers the confidence flag, not the score. An unmapped discipline drops that factor, renormalises, lowers confidence, and flags the admin to add one entry.</a:t>
            </a:r>
          </a:p>
        </p:txBody>
      </p:sp>
      <p:sp>
        <p:nvSpPr>
          <p:cNvPr id="16" name="Rounded Rectangle 15"/>
          <p:cNvSpPr/>
          <p:nvPr/>
        </p:nvSpPr>
        <p:spPr>
          <a:xfrm>
            <a:off x="713232" y="3419856"/>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511296"/>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Will it auto-reject applicants or replace officers?</a:t>
            </a:r>
          </a:p>
        </p:txBody>
      </p:sp>
      <p:sp>
        <p:nvSpPr>
          <p:cNvPr id="18" name="TextBox 17"/>
          <p:cNvSpPr txBox="1"/>
          <p:nvPr/>
        </p:nvSpPr>
        <p:spPr>
          <a:xfrm>
            <a:off x="960120" y="3822192"/>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No. The only automatic gate is eligibility. Everything else is ranked + explained — officers shortlist and choose who to interview.</a:t>
            </a:r>
          </a:p>
        </p:txBody>
      </p:sp>
      <p:sp>
        <p:nvSpPr>
          <p:cNvPr id="19" name="Rounded Rectangle 18"/>
          <p:cNvSpPr/>
          <p:nvPr/>
        </p:nvSpPr>
        <p:spPr>
          <a:xfrm>
            <a:off x="713232" y="4389120"/>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480560"/>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Can applicants game it (inflate skills, rank everything #1)?</a:t>
            </a:r>
          </a:p>
        </p:txBody>
      </p:sp>
      <p:sp>
        <p:nvSpPr>
          <p:cNvPr id="21" name="TextBox 20"/>
          <p:cNvSpPr txBox="1"/>
          <p:nvPr/>
        </p:nvSpPr>
        <p:spPr>
          <a:xfrm>
            <a:off x="960120" y="4791456"/>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Preference is only a tiebreaker; skills are matched against declared / CV evidence; each factor is capped — so gaming has limited payoff.</a:t>
            </a:r>
          </a:p>
        </p:txBody>
      </p:sp>
      <p:sp>
        <p:nvSpPr>
          <p:cNvPr id="22" name="Rounded Rectangle 21"/>
          <p:cNvSpPr/>
          <p:nvPr/>
        </p:nvSpPr>
        <p:spPr>
          <a:xfrm>
            <a:off x="713232" y="5358384"/>
            <a:ext cx="10771632" cy="91440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449824"/>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What do we need to run it, and how much upkeep?</a:t>
            </a:r>
          </a:p>
        </p:txBody>
      </p:sp>
      <p:sp>
        <p:nvSpPr>
          <p:cNvPr id="24" name="TextBox 23"/>
          <p:cNvSpPr txBox="1"/>
          <p:nvPr/>
        </p:nvSpPr>
        <p:spPr>
          <a:xfrm>
            <a:off x="960120" y="5760720"/>
            <a:ext cx="10332720" cy="45720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Structured applicant data (subjects / discipline / grades via dropdowns) and projects tagged with discipline + skills. Upkeep is light: a small subject↔discipline dictionary, seeded once, edited a few times a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457200"/>
            <a:ext cx="109728" cy="548640"/>
          </a:xfrm>
          <a:prstGeom prst="rect">
            <a:avLst/>
          </a:prstGeom>
          <a:solidFill>
            <a:srgbClr val="003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402336"/>
            <a:ext cx="10607040" cy="36576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1E5BC6"/>
                </a:solidFill>
                <a:latin typeface="Segoe UI"/>
              </a:rPr>
              <a:t>FREQUENTLY ASKED · NORMALISATION &amp; CONFIG</a:t>
            </a:r>
          </a:p>
        </p:txBody>
      </p:sp>
      <p:sp>
        <p:nvSpPr>
          <p:cNvPr id="6" name="TextBox 5"/>
          <p:cNvSpPr txBox="1"/>
          <p:nvPr/>
        </p:nvSpPr>
        <p:spPr>
          <a:xfrm>
            <a:off x="713232" y="640080"/>
            <a:ext cx="10927080" cy="640080"/>
          </a:xfrm>
          <a:prstGeom prst="rect">
            <a:avLst/>
          </a:prstGeom>
          <a:noFill/>
        </p:spPr>
        <p:txBody>
          <a:bodyPr wrap="square" anchor="t" lIns="0" rIns="0" tIns="0" bIns="0">
            <a:spAutoFit/>
          </a:bodyPr>
          <a:lstStyle/>
          <a:p>
            <a:pPr algn="l">
              <a:lnSpc>
                <a:spcPct val="100000"/>
              </a:lnSpc>
              <a:spcBef>
                <a:spcPts val="0"/>
              </a:spcBef>
              <a:spcAft>
                <a:spcPts val="400"/>
              </a:spcAft>
            </a:pPr>
            <a:r>
              <a:rPr sz="2300" b="1" i="0">
                <a:solidFill>
                  <a:srgbClr val="0F172A"/>
                </a:solidFill>
                <a:latin typeface="Segoe UI"/>
              </a:rPr>
              <a:t>FAQ — normalisation &amp; who configures it</a:t>
            </a:r>
          </a:p>
        </p:txBody>
      </p:sp>
      <p:sp>
        <p:nvSpPr>
          <p:cNvPr id="7" name="Rectangle 6"/>
          <p:cNvSpPr/>
          <p:nvPr/>
        </p:nvSpPr>
        <p:spPr>
          <a:xfrm>
            <a:off x="713232" y="1243584"/>
            <a:ext cx="10771632" cy="16459"/>
          </a:xfrm>
          <a:prstGeom prst="rect">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55664"/>
            <a:ext cx="8229600" cy="274320"/>
          </a:xfrm>
          <a:prstGeom prst="rect">
            <a:avLst/>
          </a:prstGeom>
          <a:noFill/>
        </p:spPr>
        <p:txBody>
          <a:bodyPr wrap="square" anchor="t" lIns="0" rIns="0" tIns="0" bIns="0">
            <a:spAutoFit/>
          </a:bodyPr>
          <a:lstStyle/>
          <a:p>
            <a:pPr algn="l">
              <a:lnSpc>
                <a:spcPct val="100000"/>
              </a:lnSpc>
              <a:spcBef>
                <a:spcPts val="0"/>
              </a:spcBef>
              <a:spcAft>
                <a:spcPts val="400"/>
              </a:spcAft>
            </a:pPr>
            <a:r>
              <a:rPr sz="850" b="0" i="0">
                <a:solidFill>
                  <a:srgbClr val="94A3B8"/>
                </a:solidFill>
                <a:latin typeface="Segoe UI"/>
              </a:rPr>
              <a:t>DSTA Talent Outreach &amp; Acquisition Portal · Project Suitability Engine</a:t>
            </a:r>
          </a:p>
        </p:txBody>
      </p:sp>
      <p:sp>
        <p:nvSpPr>
          <p:cNvPr id="9" name="TextBox 8"/>
          <p:cNvSpPr txBox="1"/>
          <p:nvPr/>
        </p:nvSpPr>
        <p:spPr>
          <a:xfrm>
            <a:off x="10607040" y="6455664"/>
            <a:ext cx="1078992" cy="274320"/>
          </a:xfrm>
          <a:prstGeom prst="rect">
            <a:avLst/>
          </a:prstGeom>
          <a:noFill/>
        </p:spPr>
        <p:txBody>
          <a:bodyPr wrap="square" anchor="t" lIns="0" rIns="0" tIns="0" bIns="0">
            <a:spAutoFit/>
          </a:bodyPr>
          <a:lstStyle/>
          <a:p>
            <a:pPr algn="r">
              <a:lnSpc>
                <a:spcPct val="100000"/>
              </a:lnSpc>
              <a:spcBef>
                <a:spcPts val="0"/>
              </a:spcBef>
              <a:spcAft>
                <a:spcPts val="400"/>
              </a:spcAft>
            </a:pPr>
            <a:r>
              <a:rPr sz="850" b="1" i="0">
                <a:solidFill>
                  <a:srgbClr val="94A3B8"/>
                </a:solidFill>
                <a:latin typeface="Segoe UI"/>
              </a:rPr>
              <a:t>09 / 09</a:t>
            </a:r>
          </a:p>
        </p:txBody>
      </p:sp>
      <p:sp>
        <p:nvSpPr>
          <p:cNvPr id="10" name="Rounded Rectangle 9"/>
          <p:cNvSpPr/>
          <p:nvPr/>
        </p:nvSpPr>
        <p:spPr>
          <a:xfrm>
            <a:off x="713232" y="1481328"/>
            <a:ext cx="10771632" cy="109728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72768"/>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How does grade normalisation work — and who sets the bands?</a:t>
            </a:r>
          </a:p>
        </p:txBody>
      </p:sp>
      <p:sp>
        <p:nvSpPr>
          <p:cNvPr id="12" name="TextBox 11"/>
          <p:cNvSpPr txBox="1"/>
          <p:nvPr/>
        </p:nvSpPr>
        <p:spPr>
          <a:xfrm>
            <a:off x="960120" y="1883664"/>
            <a:ext cx="10332720" cy="64008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Each school system has its own grade→band table (A-Level A = Top, B = Strong; IB 7 = Top, 6 = Strong; Poly GPA ≥3.8 = Top). The engine looks up the applicant's raw grade in their system's table to get the band (Top 100 / Strong 80 / Solid 60 / Borderline 40). DSTA admins set the thresholds per system; the engine only applies them.</a:t>
            </a:r>
          </a:p>
        </p:txBody>
      </p:sp>
      <p:sp>
        <p:nvSpPr>
          <p:cNvPr id="13" name="Rounded Rectangle 12"/>
          <p:cNvSpPr/>
          <p:nvPr/>
        </p:nvSpPr>
        <p:spPr>
          <a:xfrm>
            <a:off x="713232" y="2633472"/>
            <a:ext cx="10771632" cy="109728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724912"/>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How does weight “renormalisation” work when a factor is missing?</a:t>
            </a:r>
          </a:p>
        </p:txBody>
      </p:sp>
      <p:sp>
        <p:nvSpPr>
          <p:cNvPr id="15" name="TextBox 14"/>
          <p:cNvSpPr txBox="1"/>
          <p:nvPr/>
        </p:nvSpPr>
        <p:spPr>
          <a:xfrm>
            <a:off x="960120" y="3035808"/>
            <a:ext cx="10332720" cy="64008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Start from the weights (Discipline 50 / Skills 30 / Standing 20). If a group can't have a factor, the engine drops it and rescales the rest to total 100 — e.g. without Standing: Discipline 50÷80 = 62.5%, Skills 30÷80 = 37.5%. The applicant can still reach 100. It's automatic — no one does it by hand.</a:t>
            </a:r>
          </a:p>
        </p:txBody>
      </p:sp>
      <p:sp>
        <p:nvSpPr>
          <p:cNvPr id="16" name="Rounded Rectangle 15"/>
          <p:cNvSpPr/>
          <p:nvPr/>
        </p:nvSpPr>
        <p:spPr>
          <a:xfrm>
            <a:off x="713232" y="3785615"/>
            <a:ext cx="10771632" cy="109728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877055"/>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Where are the weights, bands and dictionary actually defined?</a:t>
            </a:r>
          </a:p>
        </p:txBody>
      </p:sp>
      <p:sp>
        <p:nvSpPr>
          <p:cNvPr id="18" name="TextBox 17"/>
          <p:cNvSpPr txBox="1"/>
          <p:nvPr/>
        </p:nvSpPr>
        <p:spPr>
          <a:xfrm>
            <a:off x="960120" y="4187952"/>
            <a:ext cx="10332720" cy="64008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All three are configuration data, not code: factor weights per programme, grade→band tables per school system, and the subject↔discipline dictionary. They live in the admin settings, separate from the scoring engine.</a:t>
            </a:r>
          </a:p>
        </p:txBody>
      </p:sp>
      <p:sp>
        <p:nvSpPr>
          <p:cNvPr id="19" name="Rounded Rectangle 18"/>
          <p:cNvSpPr/>
          <p:nvPr/>
        </p:nvSpPr>
        <p:spPr>
          <a:xfrm>
            <a:off x="713232" y="4937759"/>
            <a:ext cx="10771632" cy="109728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029199"/>
            <a:ext cx="10332720" cy="292608"/>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E5BC6"/>
                </a:solidFill>
                <a:latin typeface="Segoe UI"/>
              </a:rPr>
              <a:t>Q.  </a:t>
            </a:r>
            <a:r>
              <a:rPr sz="1250" b="1" i="0">
                <a:solidFill>
                  <a:srgbClr val="0F172A"/>
                </a:solidFill>
                <a:latin typeface="Segoe UI"/>
              </a:rPr>
              <a:t>Who maintains it — and can we audit a score?</a:t>
            </a:r>
          </a:p>
        </p:txBody>
      </p:sp>
      <p:sp>
        <p:nvSpPr>
          <p:cNvPr id="21" name="TextBox 20"/>
          <p:cNvSpPr txBox="1"/>
          <p:nvPr/>
        </p:nvSpPr>
        <p:spPr>
          <a:xfrm>
            <a:off x="960120" y="5340096"/>
            <a:ext cx="10332720" cy="640080"/>
          </a:xfrm>
          <a:prstGeom prst="rect">
            <a:avLst/>
          </a:prstGeom>
          <a:noFill/>
        </p:spPr>
        <p:txBody>
          <a:bodyPr wrap="square" anchor="t" lIns="0" rIns="0" tIns="0" bIns="0">
            <a:spAutoFit/>
          </a:bodyPr>
          <a:lstStyle/>
          <a:p>
            <a:pPr algn="l">
              <a:lnSpc>
                <a:spcPct val="108000"/>
              </a:lnSpc>
              <a:spcBef>
                <a:spcPts val="0"/>
              </a:spcBef>
              <a:spcAft>
                <a:spcPts val="400"/>
              </a:spcAft>
            </a:pPr>
            <a:r>
              <a:rPr sz="1100" b="1" i="0">
                <a:solidFill>
                  <a:srgbClr val="94A3B8"/>
                </a:solidFill>
                <a:latin typeface="Segoe UI"/>
              </a:rPr>
              <a:t>A.  </a:t>
            </a:r>
            <a:r>
              <a:rPr sz="1100" b="0" i="0">
                <a:solidFill>
                  <a:srgbClr val="556377"/>
                </a:solidFill>
                <a:latin typeface="Segoe UI"/>
              </a:rPr>
              <a:t>DSTA admins own and edit all three, no developer needed. Every change is versioned, so any past score can be reproduced exactly from the settings that were live when it was generated.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